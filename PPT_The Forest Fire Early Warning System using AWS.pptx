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58" r:id="rId4"/>
    <p:sldId id="259" r:id="rId5"/>
    <p:sldId id="262" r:id="rId6"/>
    <p:sldId id="263" r:id="rId7"/>
    <p:sldId id="264" r:id="rId8"/>
    <p:sldId id="267" r:id="rId9"/>
    <p:sldId id="268" r:id="rId10"/>
    <p:sldId id="269" r:id="rId11"/>
    <p:sldId id="270" r:id="rId12"/>
    <p:sldId id="265" r:id="rId13"/>
    <p:sldId id="266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37" userDrawn="1">
          <p15:clr>
            <a:srgbClr val="A4A3A4"/>
          </p15:clr>
        </p15:guide>
        <p15:guide id="2" pos="22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FE9A410-3C7E-45CF-B99F-7443693FEE4E}" styleName="Table_0">
    <a:wholeTbl>
      <a:tcTxStyle>
        <a:font>
          <a:latin typeface="Perpetua"/>
          <a:ea typeface="Perpetua"/>
          <a:cs typeface="Perpetua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77"/>
      </p:cViewPr>
      <p:guideLst>
        <p:guide orient="horz" pos="2837"/>
        <p:guide pos="22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urn:microsoft.com/office/officeart/2005/8/layout/bProcess3" loCatId="process" qsTypeId="urn:microsoft.com/office/officeart/2005/8/quickstyle/simple1" qsCatId="simple" csTypeId="urn:microsoft.com/office/officeart/2005/8/colors/accent0_2" csCatId="accent1" phldr="1"/>
      <dgm:spPr/>
      <dgm:t>
        <a:bodyPr/>
        <a:p>
          <a:endParaRPr lang="en-US"/>
        </a:p>
      </dgm:t>
    </dgm:pt>
    <dgm:pt modelId="{79A907BE-6A57-46F9-949B-2F83975E501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tx1"/>
              </a:solidFill>
              <a:sym typeface="+mn-ea"/>
            </a:rPr>
            <a:t> Sensor Integration</a:t>
          </a:r>
          <a:r>
            <a:rPr lang="en-US" altLang="en-US">
              <a:solidFill>
                <a:schemeClr val="tx1"/>
              </a:solidFill>
              <a:sym typeface="+mn-ea"/>
            </a:rPr>
            <a:t/>
          </a:r>
          <a:endParaRPr lang="en-US" altLang="en-US">
            <a:solidFill>
              <a:schemeClr val="tx1"/>
            </a:solidFill>
            <a:sym typeface="+mn-ea"/>
          </a:endParaRPr>
        </a:p>
      </dgm:t>
    </dgm:pt>
    <dgm:pt modelId="{27508ADE-09B9-4692-B3B1-997C0A038367}" cxnId="{97AB3877-8D55-41E1-9EEF-A73FB7216141}" type="parTrans">
      <dgm:prSet/>
      <dgm:spPr/>
      <dgm:t>
        <a:bodyPr/>
        <a:p>
          <a:endParaRPr lang="en-US"/>
        </a:p>
      </dgm:t>
    </dgm:pt>
    <dgm:pt modelId="{6E764295-1C97-4A8A-BB23-8F6587B65D20}" cxnId="{97AB3877-8D55-41E1-9EEF-A73FB7216141}" type="sibTrans">
      <dgm:prSet/>
      <dgm:spPr/>
      <dgm:t>
        <a:bodyPr/>
        <a:p>
          <a:endParaRPr lang="en-US"/>
        </a:p>
      </dgm:t>
    </dgm:pt>
    <dgm:pt modelId="{047E9EF6-99D9-47D4-8421-7851F36A512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tx1"/>
              </a:solidFill>
              <a:sym typeface="+mn-ea"/>
            </a:rPr>
            <a:t>Firmware Initialization</a:t>
          </a:r>
          <a:endParaRPr lang="en-US" altLang="en-US">
            <a:solidFill>
              <a:schemeClr val="tx1"/>
            </a:solidFill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tx1"/>
              </a:solidFill>
              <a:sym typeface="+mn-ea"/>
            </a:rPr>
            <a:t/>
          </a:r>
          <a:endParaRPr lang="en-US" altLang="en-US">
            <a:solidFill>
              <a:schemeClr val="tx1"/>
            </a:solidFill>
            <a:sym typeface="+mn-ea"/>
          </a:endParaRPr>
        </a:p>
      </dgm:t>
    </dgm:pt>
    <dgm:pt modelId="{2AC7BC3F-1829-4928-9FDD-1BD085861192}" cxnId="{C3EB2394-61F5-4B3D-8B04-F51B3DCC56B5}" type="parTrans">
      <dgm:prSet/>
      <dgm:spPr/>
      <dgm:t>
        <a:bodyPr/>
        <a:p>
          <a:endParaRPr lang="en-US"/>
        </a:p>
      </dgm:t>
    </dgm:pt>
    <dgm:pt modelId="{B3A60D08-4CF1-4AD3-A554-8DA1472F6362}" cxnId="{C3EB2394-61F5-4B3D-8B04-F51B3DCC56B5}" type="sibTrans">
      <dgm:prSet/>
      <dgm:spPr/>
      <dgm:t>
        <a:bodyPr/>
        <a:p>
          <a:endParaRPr lang="en-US"/>
        </a:p>
      </dgm:t>
    </dgm:pt>
    <dgm:pt modelId="{9B99C3CE-0550-4254-B164-BB9424E18E5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Data Acquisition</a:t>
          </a:r>
          <a:r>
            <a:rPr lang="en-US" altLang="en-US"/>
            <a:t/>
          </a:r>
          <a:endParaRPr lang="en-US" altLang="en-US"/>
        </a:p>
      </dgm:t>
    </dgm:pt>
    <dgm:pt modelId="{CF18C7ED-262E-47EB-A8BC-BC18A4B2756C}" cxnId="{431C1737-2941-47B3-99B0-04C03302FE05}" type="parTrans">
      <dgm:prSet/>
      <dgm:spPr/>
      <dgm:t>
        <a:bodyPr/>
        <a:p>
          <a:endParaRPr lang="en-US"/>
        </a:p>
      </dgm:t>
    </dgm:pt>
    <dgm:pt modelId="{C20DFEDB-A5DA-48B1-860C-C64E9FB9889D}" cxnId="{431C1737-2941-47B3-99B0-04C03302FE05}" type="sibTrans">
      <dgm:prSet/>
      <dgm:spPr/>
      <dgm:t>
        <a:bodyPr/>
        <a:p>
          <a:endParaRPr lang="en-US"/>
        </a:p>
      </dgm:t>
    </dgm:pt>
    <dgm:pt modelId="{4DBF9FC0-7F11-49D1-A13A-F9EF16035E7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 Threshold Evaluation</a:t>
          </a: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716438C4-1259-4C94-B7A8-3756D5685E48}" cxnId="{10B627DE-C910-4FA8-A581-D0480868A037}" type="parTrans">
      <dgm:prSet/>
      <dgm:spPr/>
      <dgm:t>
        <a:bodyPr/>
        <a:p>
          <a:endParaRPr lang="en-US"/>
        </a:p>
      </dgm:t>
    </dgm:pt>
    <dgm:pt modelId="{627790A7-E5AF-4DEF-9847-DE068ABD657B}" cxnId="{10B627DE-C910-4FA8-A581-D0480868A037}" type="sibTrans">
      <dgm:prSet/>
      <dgm:spPr/>
      <dgm:t>
        <a:bodyPr/>
        <a:p>
          <a:endParaRPr lang="en-US"/>
        </a:p>
      </dgm:t>
    </dgm:pt>
    <dgm:pt modelId="{3B57DE3A-D0CA-4A4A-A50B-01FBE031AA6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Alert Delivery</a:t>
          </a: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98FA3677-4FAE-4C5E-B3CE-CF3B6D80F4A1}" cxnId="{48F759B0-EE9D-4FA0-96B6-087ED4DCDB95}" type="parTrans">
      <dgm:prSet/>
      <dgm:spPr/>
      <dgm:t>
        <a:bodyPr/>
        <a:p>
          <a:endParaRPr lang="en-US"/>
        </a:p>
      </dgm:t>
    </dgm:pt>
    <dgm:pt modelId="{D4875198-FB6C-46A1-9EC3-6A21426D178B}" cxnId="{48F759B0-EE9D-4FA0-96B6-087ED4DCDB95}" type="sibTrans">
      <dgm:prSet/>
      <dgm:spPr/>
      <dgm:t>
        <a:bodyPr/>
        <a:p>
          <a:endParaRPr lang="en-US"/>
        </a:p>
      </dgm:t>
    </dgm:pt>
    <dgm:pt modelId="{845CE15D-D7F4-4A1E-A701-559859A49CF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Monitoring and Response</a:t>
          </a: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D2F37768-3C1D-4C96-AF81-B9BDBDAD439F}" cxnId="{27C23BF1-CD1E-4DC5-9FD7-9D67011382C2}" type="parTrans">
      <dgm:prSet/>
      <dgm:spPr/>
    </dgm:pt>
    <dgm:pt modelId="{5B26F220-564D-44E2-BB57-5FC5133351F5}" cxnId="{27C23BF1-CD1E-4DC5-9FD7-9D67011382C2}" type="sibTrans">
      <dgm:prSet/>
      <dgm:spPr/>
    </dgm:pt>
    <dgm:pt modelId="{76E5AD86-A593-4610-904D-E43B0465178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Setup and Deployment</a:t>
          </a:r>
          <a:r>
            <a:rPr altLang="en-US"/>
            <a:t/>
          </a:r>
          <a:endParaRPr altLang="en-US"/>
        </a:p>
      </dgm:t>
    </dgm:pt>
    <dgm:pt modelId="{0D6E6741-7792-4E2A-BB97-3647244DFD3A}" cxnId="{821A8B1F-97D1-4C2E-B126-D4613940DB09}" type="parTrans">
      <dgm:prSet/>
      <dgm:spPr/>
    </dgm:pt>
    <dgm:pt modelId="{D53E1C3D-8AE1-4223-9623-93B13C53FAA1}" cxnId="{821A8B1F-97D1-4C2E-B126-D4613940DB09}" type="sibTrans">
      <dgm:prSet/>
      <dgm:spPr/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7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6"/>
      <dgm:spPr/>
    </dgm:pt>
    <dgm:pt modelId="{0A91809B-8299-4CB8-B3C9-28D901126CE1}" type="pres">
      <dgm:prSet presAssocID="{6E764295-1C97-4A8A-BB23-8F6587B65D20}" presName="connectorText" presStyleCnt="0"/>
      <dgm:spPr/>
    </dgm:pt>
    <dgm:pt modelId="{0482690C-586E-41D6-8B40-4CA7581A9CE9}" type="pres">
      <dgm:prSet presAssocID="{047E9EF6-99D9-47D4-8421-7851F36A512F}" presName="node" presStyleLbl="node1" presStyleIdx="1" presStyleCnt="7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6"/>
      <dgm:spPr/>
    </dgm:pt>
    <dgm:pt modelId="{9F0FF7A9-40E9-4C02-BFFF-6F0641C2389B}" type="pres">
      <dgm:prSet presAssocID="{B3A60D08-4CF1-4AD3-A554-8DA1472F6362}" presName="connectorText" presStyleCnt="0"/>
      <dgm:spPr/>
    </dgm:pt>
    <dgm:pt modelId="{E5145E43-B450-47CE-B1E5-1482BCF4071D}" type="pres">
      <dgm:prSet presAssocID="{9B99C3CE-0550-4254-B164-BB9424E18E56}" presName="node" presStyleLbl="node1" presStyleIdx="2" presStyleCnt="7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6"/>
      <dgm:spPr/>
    </dgm:pt>
    <dgm:pt modelId="{EF27A438-6BA1-43B2-9139-DBAF3CBBEF89}" type="pres">
      <dgm:prSet presAssocID="{C20DFEDB-A5DA-48B1-860C-C64E9FB9889D}" presName="connectorText" presStyleCnt="0"/>
      <dgm:spPr/>
    </dgm:pt>
    <dgm:pt modelId="{13492D71-E670-42C9-A619-1DE9B5F887F1}" type="pres">
      <dgm:prSet presAssocID="{4DBF9FC0-7F11-49D1-A13A-F9EF16035E78}" presName="node" presStyleLbl="node1" presStyleIdx="3" presStyleCnt="7">
        <dgm:presLayoutVars>
          <dgm:bulletEnabled val="1"/>
        </dgm:presLayoutVars>
      </dgm:prSet>
      <dgm:spPr/>
    </dgm:pt>
    <dgm:pt modelId="{E85A6953-055C-454F-835D-7FF8096CA491}" type="pres">
      <dgm:prSet presAssocID="{627790A7-E5AF-4DEF-9847-DE068ABD657B}" presName="sibTrans" presStyleLbl="sibTrans1D1" presStyleIdx="3" presStyleCnt="6"/>
      <dgm:spPr/>
    </dgm:pt>
    <dgm:pt modelId="{EB69ECB2-9BFD-4754-8113-1A1F7EFC836E}" type="pres">
      <dgm:prSet presAssocID="{627790A7-E5AF-4DEF-9847-DE068ABD657B}" presName="connectorText" presStyleCnt="0"/>
      <dgm:spPr/>
    </dgm:pt>
    <dgm:pt modelId="{F80816D7-392E-4741-B9A3-C73586F7EC67}" type="pres">
      <dgm:prSet presAssocID="{3B57DE3A-D0CA-4A4A-A50B-01FBE031AA69}" presName="node" presStyleLbl="node1" presStyleIdx="4" presStyleCnt="7">
        <dgm:presLayoutVars>
          <dgm:bulletEnabled val="1"/>
        </dgm:presLayoutVars>
      </dgm:prSet>
      <dgm:spPr/>
    </dgm:pt>
    <dgm:pt modelId="{433B5567-80BD-4050-8DB0-5B2585B2A430}" type="pres">
      <dgm:prSet presAssocID="{D4875198-FB6C-46A1-9EC3-6A21426D178B}" presName="sibTrans" presStyleLbl="sibTrans1D1" presStyleIdx="4" presStyleCnt="6"/>
      <dgm:spPr/>
    </dgm:pt>
    <dgm:pt modelId="{029BF85E-42C7-4253-AEA7-CD74B0C9BD9A}" type="pres">
      <dgm:prSet presAssocID="{D4875198-FB6C-46A1-9EC3-6A21426D178B}" presName="connectorText" presStyleCnt="0"/>
      <dgm:spPr/>
    </dgm:pt>
    <dgm:pt modelId="{F36B8815-F3F8-4E19-BAB1-2355353B1A29}" type="pres">
      <dgm:prSet presAssocID="{845CE15D-D7F4-4A1E-A701-559859A49CF1}" presName="node" presStyleLbl="node1" presStyleIdx="5" presStyleCnt="7">
        <dgm:presLayoutVars>
          <dgm:bulletEnabled val="1"/>
        </dgm:presLayoutVars>
      </dgm:prSet>
      <dgm:spPr/>
    </dgm:pt>
    <dgm:pt modelId="{20DA2318-08D3-42DC-9C36-3CA8E736E480}" type="pres">
      <dgm:prSet presAssocID="{5B26F220-564D-44E2-BB57-5FC5133351F5}" presName="sibTrans" presStyleLbl="sibTrans1D1" presStyleIdx="5" presStyleCnt="6"/>
      <dgm:spPr/>
    </dgm:pt>
    <dgm:pt modelId="{C18EA274-3328-418C-B7CB-CFA4A25DA9F5}" type="pres">
      <dgm:prSet presAssocID="{5B26F220-564D-44E2-BB57-5FC5133351F5}" presName="connectorText" presStyleCnt="0"/>
      <dgm:spPr/>
    </dgm:pt>
    <dgm:pt modelId="{8C8FDD76-E2C5-47F0-9ED3-FE5EF34D7AF4}" type="pres">
      <dgm:prSet presAssocID="{76E5AD86-A593-4610-904D-E43B04651789}" presName="node" presStyleLbl="node1" presStyleIdx="6" presStyleCnt="7">
        <dgm:presLayoutVars>
          <dgm:bulletEnabled val="1"/>
        </dgm:presLayoutVars>
      </dgm:prSet>
      <dgm:spPr/>
    </dgm:pt>
  </dgm:ptLst>
  <dgm:cxnLst>
    <dgm:cxn modelId="{97AB3877-8D55-41E1-9EEF-A73FB7216141}" srcId="{4BE40EF7-4FDB-46DC-AD5C-7AA9927BCDC4}" destId="{79A907BE-6A57-46F9-949B-2F83975E5013}" srcOrd="0" destOrd="0" parTransId="{27508ADE-09B9-4692-B3B1-997C0A038367}" sibTransId="{6E764295-1C97-4A8A-BB23-8F6587B65D20}"/>
    <dgm:cxn modelId="{C3EB2394-61F5-4B3D-8B04-F51B3DCC56B5}" srcId="{4BE40EF7-4FDB-46DC-AD5C-7AA9927BCDC4}" destId="{047E9EF6-99D9-47D4-8421-7851F36A512F}" srcOrd="1" destOrd="0" parTransId="{2AC7BC3F-1829-4928-9FDD-1BD085861192}" sibTransId="{B3A60D08-4CF1-4AD3-A554-8DA1472F6362}"/>
    <dgm:cxn modelId="{431C1737-2941-47B3-99B0-04C03302FE05}" srcId="{4BE40EF7-4FDB-46DC-AD5C-7AA9927BCDC4}" destId="{9B99C3CE-0550-4254-B164-BB9424E18E56}" srcOrd="2" destOrd="0" parTransId="{CF18C7ED-262E-47EB-A8BC-BC18A4B2756C}" sibTransId="{C20DFEDB-A5DA-48B1-860C-C64E9FB9889D}"/>
    <dgm:cxn modelId="{10B627DE-C910-4FA8-A581-D0480868A037}" srcId="{4BE40EF7-4FDB-46DC-AD5C-7AA9927BCDC4}" destId="{4DBF9FC0-7F11-49D1-A13A-F9EF16035E78}" srcOrd="3" destOrd="0" parTransId="{716438C4-1259-4C94-B7A8-3756D5685E48}" sibTransId="{627790A7-E5AF-4DEF-9847-DE068ABD657B}"/>
    <dgm:cxn modelId="{48F759B0-EE9D-4FA0-96B6-087ED4DCDB95}" srcId="{4BE40EF7-4FDB-46DC-AD5C-7AA9927BCDC4}" destId="{3B57DE3A-D0CA-4A4A-A50B-01FBE031AA69}" srcOrd="4" destOrd="0" parTransId="{98FA3677-4FAE-4C5E-B3CE-CF3B6D80F4A1}" sibTransId="{D4875198-FB6C-46A1-9EC3-6A21426D178B}"/>
    <dgm:cxn modelId="{27C23BF1-CD1E-4DC5-9FD7-9D67011382C2}" srcId="{4BE40EF7-4FDB-46DC-AD5C-7AA9927BCDC4}" destId="{845CE15D-D7F4-4A1E-A701-559859A49CF1}" srcOrd="5" destOrd="0" parTransId="{D2F37768-3C1D-4C96-AF81-B9BDBDAD439F}" sibTransId="{5B26F220-564D-44E2-BB57-5FC5133351F5}"/>
    <dgm:cxn modelId="{821A8B1F-97D1-4C2E-B126-D4613940DB09}" srcId="{4BE40EF7-4FDB-46DC-AD5C-7AA9927BCDC4}" destId="{76E5AD86-A593-4610-904D-E43B04651789}" srcOrd="6" destOrd="0" parTransId="{0D6E6741-7792-4E2A-BB97-3647244DFD3A}" sibTransId="{D53E1C3D-8AE1-4223-9623-93B13C53FAA1}"/>
    <dgm:cxn modelId="{7F2748B6-D5E1-458E-8E1C-53B664936176}" type="presOf" srcId="{4BE40EF7-4FDB-46DC-AD5C-7AA9927BCDC4}" destId="{1623B4C5-2499-4637-B07C-6AE8AE2BD718}" srcOrd="0" destOrd="0" presId="urn:microsoft.com/office/officeart/2005/8/layout/bProcess3"/>
    <dgm:cxn modelId="{6F0F0DE5-0EEA-421F-A449-E750378DAA86}" type="presParOf" srcId="{1623B4C5-2499-4637-B07C-6AE8AE2BD718}" destId="{2FBE2C1E-1D94-400F-A227-985D4DA10085}" srcOrd="0" destOrd="0" presId="urn:microsoft.com/office/officeart/2005/8/layout/bProcess3"/>
    <dgm:cxn modelId="{8EF9295B-ED2E-48CE-933F-28E5F5CF505F}" type="presOf" srcId="{79A907BE-6A57-46F9-949B-2F83975E5013}" destId="{2FBE2C1E-1D94-400F-A227-985D4DA10085}" srcOrd="0" destOrd="0" presId="urn:microsoft.com/office/officeart/2005/8/layout/bProcess3"/>
    <dgm:cxn modelId="{AABBCFD2-FC2F-4778-9C8C-5A54DA462E4C}" type="presParOf" srcId="{1623B4C5-2499-4637-B07C-6AE8AE2BD718}" destId="{9F73252C-5345-45F1-A6FA-69E44781CCB0}" srcOrd="1" destOrd="0" presId="urn:microsoft.com/office/officeart/2005/8/layout/bProcess3"/>
    <dgm:cxn modelId="{62F2CF41-06D6-46A3-AA24-36F7AC59D704}" type="presOf" srcId="{6E764295-1C97-4A8A-BB23-8F6587B65D20}" destId="{9F73252C-5345-45F1-A6FA-69E44781CCB0}" srcOrd="0" destOrd="0" presId="urn:microsoft.com/office/officeart/2005/8/layout/bProcess3"/>
    <dgm:cxn modelId="{A8BE7A52-CD3C-45FA-BAD0-DECAD5C26970}" type="presParOf" srcId="{9F73252C-5345-45F1-A6FA-69E44781CCB0}" destId="{0A91809B-8299-4CB8-B3C9-28D901126CE1}" srcOrd="0" destOrd="1" presId="urn:microsoft.com/office/officeart/2005/8/layout/bProcess3"/>
    <dgm:cxn modelId="{88E23C91-8D33-41E5-873F-438B7EFC31D4}" type="presOf" srcId="{6E764295-1C97-4A8A-BB23-8F6587B65D20}" destId="{0A91809B-8299-4CB8-B3C9-28D901126CE1}" srcOrd="1" destOrd="0" presId="urn:microsoft.com/office/officeart/2005/8/layout/bProcess3"/>
    <dgm:cxn modelId="{79EAC7BE-AC42-4482-9D2F-148709C84176}" type="presParOf" srcId="{1623B4C5-2499-4637-B07C-6AE8AE2BD718}" destId="{0482690C-586E-41D6-8B40-4CA7581A9CE9}" srcOrd="2" destOrd="0" presId="urn:microsoft.com/office/officeart/2005/8/layout/bProcess3"/>
    <dgm:cxn modelId="{B9D89A50-DD36-4F59-8CA9-726413CAC53D}" type="presOf" srcId="{047E9EF6-99D9-47D4-8421-7851F36A512F}" destId="{0482690C-586E-41D6-8B40-4CA7581A9CE9}" srcOrd="0" destOrd="0" presId="urn:microsoft.com/office/officeart/2005/8/layout/bProcess3"/>
    <dgm:cxn modelId="{736D6447-F2C5-48A3-93F9-91ADE5DA8262}" type="presParOf" srcId="{1623B4C5-2499-4637-B07C-6AE8AE2BD718}" destId="{EBB69596-36AB-40F1-91C5-FC3350A00067}" srcOrd="3" destOrd="0" presId="urn:microsoft.com/office/officeart/2005/8/layout/bProcess3"/>
    <dgm:cxn modelId="{20CE7B3F-23D1-403B-9205-FEF26A28D7FA}" type="presOf" srcId="{B3A60D08-4CF1-4AD3-A554-8DA1472F6362}" destId="{EBB69596-36AB-40F1-91C5-FC3350A00067}" srcOrd="0" destOrd="0" presId="urn:microsoft.com/office/officeart/2005/8/layout/bProcess3"/>
    <dgm:cxn modelId="{4588D91A-1844-4711-88BD-7D713A2A8345}" type="presParOf" srcId="{EBB69596-36AB-40F1-91C5-FC3350A00067}" destId="{9F0FF7A9-40E9-4C02-BFFF-6F0641C2389B}" srcOrd="0" destOrd="3" presId="urn:microsoft.com/office/officeart/2005/8/layout/bProcess3"/>
    <dgm:cxn modelId="{0E11F71A-27AD-4888-BEBC-60F8B3DF7A31}" type="presOf" srcId="{B3A60D08-4CF1-4AD3-A554-8DA1472F6362}" destId="{9F0FF7A9-40E9-4C02-BFFF-6F0641C2389B}" srcOrd="1" destOrd="0" presId="urn:microsoft.com/office/officeart/2005/8/layout/bProcess3"/>
    <dgm:cxn modelId="{B6A9BE19-4694-4F28-8844-04D65FC5DA9B}" type="presParOf" srcId="{1623B4C5-2499-4637-B07C-6AE8AE2BD718}" destId="{E5145E43-B450-47CE-B1E5-1482BCF4071D}" srcOrd="4" destOrd="0" presId="urn:microsoft.com/office/officeart/2005/8/layout/bProcess3"/>
    <dgm:cxn modelId="{2EA05172-D3A2-494B-834A-0CAAD1905B32}" type="presOf" srcId="{9B99C3CE-0550-4254-B164-BB9424E18E56}" destId="{E5145E43-B450-47CE-B1E5-1482BCF4071D}" srcOrd="0" destOrd="0" presId="urn:microsoft.com/office/officeart/2005/8/layout/bProcess3"/>
    <dgm:cxn modelId="{42864403-A1B1-490A-BE58-C0BB4D0B22F9}" type="presParOf" srcId="{1623B4C5-2499-4637-B07C-6AE8AE2BD718}" destId="{31F3FE5F-74B2-48F8-89DC-AE29DBB498B0}" srcOrd="5" destOrd="0" presId="urn:microsoft.com/office/officeart/2005/8/layout/bProcess3"/>
    <dgm:cxn modelId="{FC416EED-4AA5-4997-882B-EDFD09FFFE2E}" type="presOf" srcId="{C20DFEDB-A5DA-48B1-860C-C64E9FB9889D}" destId="{31F3FE5F-74B2-48F8-89DC-AE29DBB498B0}" srcOrd="0" destOrd="0" presId="urn:microsoft.com/office/officeart/2005/8/layout/bProcess3"/>
    <dgm:cxn modelId="{CA36229F-A793-42D7-89A0-0A2BA0612510}" type="presParOf" srcId="{31F3FE5F-74B2-48F8-89DC-AE29DBB498B0}" destId="{EF27A438-6BA1-43B2-9139-DBAF3CBBEF89}" srcOrd="0" destOrd="5" presId="urn:microsoft.com/office/officeart/2005/8/layout/bProcess3"/>
    <dgm:cxn modelId="{004B2911-707D-49A1-B380-6EB1AC46D9A6}" type="presOf" srcId="{C20DFEDB-A5DA-48B1-860C-C64E9FB9889D}" destId="{EF27A438-6BA1-43B2-9139-DBAF3CBBEF89}" srcOrd="1" destOrd="0" presId="urn:microsoft.com/office/officeart/2005/8/layout/bProcess3"/>
    <dgm:cxn modelId="{442116DE-EBCF-4864-8361-E61D81EA6EB2}" type="presParOf" srcId="{1623B4C5-2499-4637-B07C-6AE8AE2BD718}" destId="{13492D71-E670-42C9-A619-1DE9B5F887F1}" srcOrd="6" destOrd="0" presId="urn:microsoft.com/office/officeart/2005/8/layout/bProcess3"/>
    <dgm:cxn modelId="{DE6C862C-6274-46B3-A49B-07C71ADE8F27}" type="presOf" srcId="{4DBF9FC0-7F11-49D1-A13A-F9EF16035E78}" destId="{13492D71-E670-42C9-A619-1DE9B5F887F1}" srcOrd="0" destOrd="0" presId="urn:microsoft.com/office/officeart/2005/8/layout/bProcess3"/>
    <dgm:cxn modelId="{FDE4FC62-C487-4F07-8777-AC5DCA2929E8}" type="presParOf" srcId="{1623B4C5-2499-4637-B07C-6AE8AE2BD718}" destId="{E85A6953-055C-454F-835D-7FF8096CA491}" srcOrd="7" destOrd="0" presId="urn:microsoft.com/office/officeart/2005/8/layout/bProcess3"/>
    <dgm:cxn modelId="{ABCF1F2D-A27F-4328-9495-74CC98EE0138}" type="presOf" srcId="{627790A7-E5AF-4DEF-9847-DE068ABD657B}" destId="{E85A6953-055C-454F-835D-7FF8096CA491}" srcOrd="0" destOrd="0" presId="urn:microsoft.com/office/officeart/2005/8/layout/bProcess3"/>
    <dgm:cxn modelId="{6AA2217C-B102-4643-8C35-75D4ED2FBB67}" type="presParOf" srcId="{E85A6953-055C-454F-835D-7FF8096CA491}" destId="{EB69ECB2-9BFD-4754-8113-1A1F7EFC836E}" srcOrd="0" destOrd="7" presId="urn:microsoft.com/office/officeart/2005/8/layout/bProcess3"/>
    <dgm:cxn modelId="{F1DEA889-F950-42DB-AD22-B8D0E79B1A81}" type="presOf" srcId="{627790A7-E5AF-4DEF-9847-DE068ABD657B}" destId="{EB69ECB2-9BFD-4754-8113-1A1F7EFC836E}" srcOrd="1" destOrd="0" presId="urn:microsoft.com/office/officeart/2005/8/layout/bProcess3"/>
    <dgm:cxn modelId="{A890C9E4-0C65-41A7-A600-BFEF789FFFD0}" type="presParOf" srcId="{1623B4C5-2499-4637-B07C-6AE8AE2BD718}" destId="{F80816D7-392E-4741-B9A3-C73586F7EC67}" srcOrd="8" destOrd="0" presId="urn:microsoft.com/office/officeart/2005/8/layout/bProcess3"/>
    <dgm:cxn modelId="{19FA3D60-3368-4793-A476-C11468C896A9}" type="presOf" srcId="{3B57DE3A-D0CA-4A4A-A50B-01FBE031AA69}" destId="{F80816D7-392E-4741-B9A3-C73586F7EC67}" srcOrd="0" destOrd="0" presId="urn:microsoft.com/office/officeart/2005/8/layout/bProcess3"/>
    <dgm:cxn modelId="{310827B5-F9D5-4F18-AC78-5C36BF422F79}" type="presParOf" srcId="{1623B4C5-2499-4637-B07C-6AE8AE2BD718}" destId="{433B5567-80BD-4050-8DB0-5B2585B2A430}" srcOrd="9" destOrd="0" presId="urn:microsoft.com/office/officeart/2005/8/layout/bProcess3"/>
    <dgm:cxn modelId="{27FCBD24-D016-44A8-AC95-2255DB6A9F03}" type="presOf" srcId="{D4875198-FB6C-46A1-9EC3-6A21426D178B}" destId="{433B5567-80BD-4050-8DB0-5B2585B2A430}" srcOrd="0" destOrd="0" presId="urn:microsoft.com/office/officeart/2005/8/layout/bProcess3"/>
    <dgm:cxn modelId="{9F68CCCA-BCCF-46DD-AAAB-0F5A48B350C8}" type="presParOf" srcId="{433B5567-80BD-4050-8DB0-5B2585B2A430}" destId="{029BF85E-42C7-4253-AEA7-CD74B0C9BD9A}" srcOrd="0" destOrd="9" presId="urn:microsoft.com/office/officeart/2005/8/layout/bProcess3"/>
    <dgm:cxn modelId="{5F96C078-B198-4F19-9B0F-59E084AE9C63}" type="presOf" srcId="{D4875198-FB6C-46A1-9EC3-6A21426D178B}" destId="{029BF85E-42C7-4253-AEA7-CD74B0C9BD9A}" srcOrd="1" destOrd="0" presId="urn:microsoft.com/office/officeart/2005/8/layout/bProcess3"/>
    <dgm:cxn modelId="{1AE09E3B-ECCA-436D-AA04-0C5B5B17BF12}" type="presParOf" srcId="{1623B4C5-2499-4637-B07C-6AE8AE2BD718}" destId="{F36B8815-F3F8-4E19-BAB1-2355353B1A29}" srcOrd="10" destOrd="0" presId="urn:microsoft.com/office/officeart/2005/8/layout/bProcess3"/>
    <dgm:cxn modelId="{BBC198E6-478F-4F70-8094-09471D10D7CD}" type="presOf" srcId="{845CE15D-D7F4-4A1E-A701-559859A49CF1}" destId="{F36B8815-F3F8-4E19-BAB1-2355353B1A29}" srcOrd="0" destOrd="0" presId="urn:microsoft.com/office/officeart/2005/8/layout/bProcess3"/>
    <dgm:cxn modelId="{77CC3315-C439-4705-8C55-D54C2F78D8E2}" type="presParOf" srcId="{1623B4C5-2499-4637-B07C-6AE8AE2BD718}" destId="{20DA2318-08D3-42DC-9C36-3CA8E736E480}" srcOrd="11" destOrd="0" presId="urn:microsoft.com/office/officeart/2005/8/layout/bProcess3"/>
    <dgm:cxn modelId="{6B518AD9-DC99-4CD5-AA24-B3552948BEF4}" type="presOf" srcId="{5B26F220-564D-44E2-BB57-5FC5133351F5}" destId="{20DA2318-08D3-42DC-9C36-3CA8E736E480}" srcOrd="0" destOrd="0" presId="urn:microsoft.com/office/officeart/2005/8/layout/bProcess3"/>
    <dgm:cxn modelId="{80C7EB0F-C5E9-4028-AA06-99B554B44DA4}" type="presParOf" srcId="{20DA2318-08D3-42DC-9C36-3CA8E736E480}" destId="{C18EA274-3328-418C-B7CB-CFA4A25DA9F5}" srcOrd="0" destOrd="11" presId="urn:microsoft.com/office/officeart/2005/8/layout/bProcess3"/>
    <dgm:cxn modelId="{6E309660-63B4-428C-9BC0-F7753D09F405}" type="presOf" srcId="{5B26F220-564D-44E2-BB57-5FC5133351F5}" destId="{C18EA274-3328-418C-B7CB-CFA4A25DA9F5}" srcOrd="1" destOrd="0" presId="urn:microsoft.com/office/officeart/2005/8/layout/bProcess3"/>
    <dgm:cxn modelId="{0A8FB1E0-392F-4DB4-BCFE-50CBCFDA63EF}" type="presParOf" srcId="{1623B4C5-2499-4637-B07C-6AE8AE2BD718}" destId="{8C8FDD76-E2C5-47F0-9ED3-FE5EF34D7AF4}" srcOrd="12" destOrd="0" presId="urn:microsoft.com/office/officeart/2005/8/layout/bProcess3"/>
    <dgm:cxn modelId="{06DDF03E-AF1C-40F6-8D61-DD8A31C1CBA5}" type="presOf" srcId="{76E5AD86-A593-4610-904D-E43B04651789}" destId="{8C8FDD76-E2C5-47F0-9ED3-FE5EF34D7AF4}" srcOrd="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553960" cy="4019550"/>
        <a:chOff x="0" y="0"/>
        <a:chExt cx="7553960" cy="4019550"/>
      </a:xfrm>
    </dsp:grpSpPr>
    <dsp:sp modelId="{9F73252C-5345-45F1-A6FA-69E44781CCB0}">
      <dsp:nvSpPr>
        <dsp:cNvPr id="4" name="Freeform 3"/>
        <dsp:cNvSpPr/>
      </dsp:nvSpPr>
      <dsp:spPr bwMode="white">
        <a:xfrm>
          <a:off x="2482848" y="533323"/>
          <a:ext cx="409751" cy="0"/>
        </a:xfrm>
        <a:custGeom>
          <a:avLst/>
          <a:gdLst/>
          <a:ahLst/>
          <a:cxnLst/>
          <a:pathLst>
            <a:path w="645">
              <a:moveTo>
                <a:pt x="0" y="0"/>
              </a:moveTo>
              <a:lnTo>
                <a:pt x="645" y="0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2"/>
            </a:solidFill>
          </a:endParaRPr>
        </a:p>
      </dsp:txBody>
      <dsp:txXfrm>
        <a:off x="2482848" y="533323"/>
        <a:ext cx="409751" cy="0"/>
      </dsp:txXfrm>
    </dsp:sp>
    <dsp:sp modelId="{2FBE2C1E-1D94-400F-A227-985D4DA10085}">
      <dsp:nvSpPr>
        <dsp:cNvPr id="3" name="Rectangles 2"/>
        <dsp:cNvSpPr/>
      </dsp:nvSpPr>
      <dsp:spPr bwMode="white">
        <a:xfrm>
          <a:off x="701323" y="-1135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tx1"/>
              </a:solidFill>
              <a:sym typeface="+mn-ea"/>
            </a:rPr>
            <a:t> Sensor Integration</a:t>
          </a:r>
          <a:endParaRPr lang="en-US" altLang="en-US">
            <a:solidFill>
              <a:schemeClr val="tx1"/>
            </a:solidFill>
            <a:sym typeface="+mn-ea"/>
          </a:endParaRPr>
        </a:p>
      </dsp:txBody>
      <dsp:txXfrm>
        <a:off x="701323" y="-1135"/>
        <a:ext cx="1781525" cy="1068915"/>
      </dsp:txXfrm>
    </dsp:sp>
    <dsp:sp modelId="{EBB69596-36AB-40F1-91C5-FC3350A00067}">
      <dsp:nvSpPr>
        <dsp:cNvPr id="6" name="Freeform 5"/>
        <dsp:cNvSpPr/>
      </dsp:nvSpPr>
      <dsp:spPr bwMode="white">
        <a:xfrm>
          <a:off x="4674123" y="533323"/>
          <a:ext cx="409751" cy="0"/>
        </a:xfrm>
        <a:custGeom>
          <a:avLst/>
          <a:gdLst/>
          <a:ahLst/>
          <a:cxnLst/>
          <a:pathLst>
            <a:path w="645">
              <a:moveTo>
                <a:pt x="0" y="0"/>
              </a:moveTo>
              <a:lnTo>
                <a:pt x="645" y="0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2"/>
            </a:solidFill>
          </a:endParaRPr>
        </a:p>
      </dsp:txBody>
      <dsp:txXfrm>
        <a:off x="4674123" y="533323"/>
        <a:ext cx="409751" cy="0"/>
      </dsp:txXfrm>
    </dsp:sp>
    <dsp:sp modelId="{0482690C-586E-41D6-8B40-4CA7581A9CE9}">
      <dsp:nvSpPr>
        <dsp:cNvPr id="5" name="Rectangles 4"/>
        <dsp:cNvSpPr/>
      </dsp:nvSpPr>
      <dsp:spPr bwMode="white">
        <a:xfrm>
          <a:off x="2892599" y="-1135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tx1"/>
              </a:solidFill>
              <a:sym typeface="+mn-ea"/>
            </a:rPr>
            <a:t>Firmware Initialization</a:t>
          </a:r>
          <a:endParaRPr lang="en-US" altLang="en-US">
            <a:solidFill>
              <a:schemeClr val="tx1"/>
            </a:solidFill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>
            <a:solidFill>
              <a:schemeClr val="tx1"/>
            </a:solidFill>
            <a:sym typeface="+mn-ea"/>
          </a:endParaRPr>
        </a:p>
      </dsp:txBody>
      <dsp:txXfrm>
        <a:off x="2892599" y="-1135"/>
        <a:ext cx="1781525" cy="1068915"/>
      </dsp:txXfrm>
    </dsp:sp>
    <dsp:sp modelId="{31F3FE5F-74B2-48F8-89DC-AE29DBB498B0}">
      <dsp:nvSpPr>
        <dsp:cNvPr id="8" name="Freeform 7"/>
        <dsp:cNvSpPr/>
      </dsp:nvSpPr>
      <dsp:spPr bwMode="white">
        <a:xfrm>
          <a:off x="1592086" y="1067780"/>
          <a:ext cx="4382551" cy="407538"/>
        </a:xfrm>
        <a:custGeom>
          <a:avLst/>
          <a:gdLst/>
          <a:ahLst/>
          <a:cxnLst/>
          <a:pathLst>
            <a:path w="6902" h="642">
              <a:moveTo>
                <a:pt x="6902" y="0"/>
              </a:moveTo>
              <a:lnTo>
                <a:pt x="6902" y="321"/>
              </a:lnTo>
              <a:lnTo>
                <a:pt x="0" y="321"/>
              </a:lnTo>
              <a:lnTo>
                <a:pt x="0" y="642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2"/>
            </a:solidFill>
          </a:endParaRPr>
        </a:p>
      </dsp:txBody>
      <dsp:txXfrm>
        <a:off x="1592086" y="1067780"/>
        <a:ext cx="4382551" cy="407538"/>
      </dsp:txXfrm>
    </dsp:sp>
    <dsp:sp modelId="{E5145E43-B450-47CE-B1E5-1482BCF4071D}">
      <dsp:nvSpPr>
        <dsp:cNvPr id="7" name="Rectangles 6"/>
        <dsp:cNvSpPr/>
      </dsp:nvSpPr>
      <dsp:spPr bwMode="white">
        <a:xfrm>
          <a:off x="5083874" y="-1135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dk2"/>
              </a:solidFill>
            </a:rPr>
            <a:t>Data Acquisition</a:t>
          </a:r>
          <a:endParaRPr lang="en-US" altLang="en-US">
            <a:solidFill>
              <a:schemeClr val="dk2"/>
            </a:solidFill>
          </a:endParaRPr>
        </a:p>
      </dsp:txBody>
      <dsp:txXfrm>
        <a:off x="5083874" y="-1135"/>
        <a:ext cx="1781525" cy="1068915"/>
      </dsp:txXfrm>
    </dsp:sp>
    <dsp:sp modelId="{E85A6953-055C-454F-835D-7FF8096CA491}">
      <dsp:nvSpPr>
        <dsp:cNvPr id="10" name="Freeform 9"/>
        <dsp:cNvSpPr/>
      </dsp:nvSpPr>
      <dsp:spPr bwMode="white">
        <a:xfrm>
          <a:off x="2482848" y="2009775"/>
          <a:ext cx="409751" cy="0"/>
        </a:xfrm>
        <a:custGeom>
          <a:avLst/>
          <a:gdLst/>
          <a:ahLst/>
          <a:cxnLst/>
          <a:pathLst>
            <a:path w="645">
              <a:moveTo>
                <a:pt x="0" y="0"/>
              </a:moveTo>
              <a:lnTo>
                <a:pt x="645" y="0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2"/>
            </a:solidFill>
          </a:endParaRPr>
        </a:p>
      </dsp:txBody>
      <dsp:txXfrm>
        <a:off x="2482848" y="2009775"/>
        <a:ext cx="409751" cy="0"/>
      </dsp:txXfrm>
    </dsp:sp>
    <dsp:sp modelId="{13492D71-E670-42C9-A619-1DE9B5F887F1}">
      <dsp:nvSpPr>
        <dsp:cNvPr id="9" name="Rectangles 8"/>
        <dsp:cNvSpPr/>
      </dsp:nvSpPr>
      <dsp:spPr bwMode="white">
        <a:xfrm>
          <a:off x="701323" y="1475318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 Threshold Evaluation</a:t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701323" y="1475318"/>
        <a:ext cx="1781525" cy="1068915"/>
      </dsp:txXfrm>
    </dsp:sp>
    <dsp:sp modelId="{433B5567-80BD-4050-8DB0-5B2585B2A430}">
      <dsp:nvSpPr>
        <dsp:cNvPr id="12" name="Freeform 11"/>
        <dsp:cNvSpPr/>
      </dsp:nvSpPr>
      <dsp:spPr bwMode="white">
        <a:xfrm>
          <a:off x="4674123" y="2009775"/>
          <a:ext cx="409751" cy="0"/>
        </a:xfrm>
        <a:custGeom>
          <a:avLst/>
          <a:gdLst/>
          <a:ahLst/>
          <a:cxnLst/>
          <a:pathLst>
            <a:path w="645">
              <a:moveTo>
                <a:pt x="0" y="0"/>
              </a:moveTo>
              <a:lnTo>
                <a:pt x="645" y="0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2"/>
            </a:solidFill>
          </a:endParaRPr>
        </a:p>
      </dsp:txBody>
      <dsp:txXfrm>
        <a:off x="4674123" y="2009775"/>
        <a:ext cx="409751" cy="0"/>
      </dsp:txXfrm>
    </dsp:sp>
    <dsp:sp modelId="{F80816D7-392E-4741-B9A3-C73586F7EC67}">
      <dsp:nvSpPr>
        <dsp:cNvPr id="11" name="Rectangles 10"/>
        <dsp:cNvSpPr/>
      </dsp:nvSpPr>
      <dsp:spPr bwMode="white">
        <a:xfrm>
          <a:off x="2892599" y="1475318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Alert Delivery</a:t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2892599" y="1475318"/>
        <a:ext cx="1781525" cy="1068915"/>
      </dsp:txXfrm>
    </dsp:sp>
    <dsp:sp modelId="{20DA2318-08D3-42DC-9C36-3CA8E736E480}">
      <dsp:nvSpPr>
        <dsp:cNvPr id="14" name="Freeform 13"/>
        <dsp:cNvSpPr/>
      </dsp:nvSpPr>
      <dsp:spPr bwMode="white">
        <a:xfrm>
          <a:off x="1592086" y="2544232"/>
          <a:ext cx="4382551" cy="407538"/>
        </a:xfrm>
        <a:custGeom>
          <a:avLst/>
          <a:gdLst/>
          <a:ahLst/>
          <a:cxnLst/>
          <a:pathLst>
            <a:path w="6902" h="642">
              <a:moveTo>
                <a:pt x="6902" y="0"/>
              </a:moveTo>
              <a:lnTo>
                <a:pt x="6902" y="321"/>
              </a:lnTo>
              <a:lnTo>
                <a:pt x="0" y="321"/>
              </a:lnTo>
              <a:lnTo>
                <a:pt x="0" y="642"/>
              </a:lnTo>
            </a:path>
          </a:pathLst>
        </a:custGeom>
        <a:ln>
          <a:tailEnd type="arrow" w="lg" len="med"/>
        </a:ln>
      </dsp:spPr>
      <dsp:style>
        <a:lnRef idx="1">
          <a:schemeClr val="dk2"/>
        </a:lnRef>
        <a:fillRef idx="0">
          <a:schemeClr val="dk2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2"/>
            </a:solidFill>
          </a:endParaRPr>
        </a:p>
      </dsp:txBody>
      <dsp:txXfrm>
        <a:off x="1592086" y="2544232"/>
        <a:ext cx="4382551" cy="407538"/>
      </dsp:txXfrm>
    </dsp:sp>
    <dsp:sp modelId="{F36B8815-F3F8-4E19-BAB1-2355353B1A29}">
      <dsp:nvSpPr>
        <dsp:cNvPr id="13" name="Rectangles 12"/>
        <dsp:cNvSpPr/>
      </dsp:nvSpPr>
      <dsp:spPr bwMode="white">
        <a:xfrm>
          <a:off x="5083874" y="1475318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Monitoring and Response</a:t>
          </a:r>
          <a:endParaRPr lang="en-US" altLang="en-US" dirty="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5083874" y="1475318"/>
        <a:ext cx="1781525" cy="1068915"/>
      </dsp:txXfrm>
    </dsp:sp>
    <dsp:sp modelId="{8C8FDD76-E2C5-47F0-9ED3-FE5EF34D7AF4}">
      <dsp:nvSpPr>
        <dsp:cNvPr id="15" name="Rectangles 14"/>
        <dsp:cNvSpPr/>
      </dsp:nvSpPr>
      <dsp:spPr bwMode="white">
        <a:xfrm>
          <a:off x="701323" y="2951770"/>
          <a:ext cx="1781525" cy="1068915"/>
        </a:xfrm>
        <a:prstGeom prst="rect">
          <a:avLst/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3792" tIns="113792" rIns="113792" bIns="113792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solidFill>
                <a:schemeClr val="dk2"/>
              </a:solidFill>
            </a:rPr>
            <a:t>Setup and Deployment</a:t>
          </a:r>
          <a:endParaRPr altLang="en-US">
            <a:solidFill>
              <a:schemeClr val="dk2"/>
            </a:solidFill>
          </a:endParaRPr>
        </a:p>
      </dsp:txBody>
      <dsp:txXfrm>
        <a:off x="701323" y="2951770"/>
        <a:ext cx="1781525" cy="1068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5" y="247650"/>
            <a:ext cx="2314575" cy="89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0117" y="161310"/>
            <a:ext cx="5013325" cy="929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3634" y="2907029"/>
            <a:ext cx="7957184" cy="1877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95421" y="6458416"/>
            <a:ext cx="21640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78751" y="6265723"/>
            <a:ext cx="196850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  <p:sp>
        <p:nvSpPr>
          <p:cNvPr id="5" name="object 3"/>
          <p:cNvSpPr/>
          <p:nvPr/>
        </p:nvSpPr>
        <p:spPr>
          <a:xfrm flipV="1">
            <a:off x="228600" y="999530"/>
            <a:ext cx="6019800" cy="67270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-1143000" y="-287246"/>
          <a:ext cx="7958136" cy="182880"/>
        </p:xfrm>
        <a:graphic>
          <a:graphicData uri="http://schemas.openxmlformats.org/drawingml/2006/table">
            <a:tbl>
              <a:tblPr/>
              <a:tblGrid>
                <a:gridCol w="1837194"/>
                <a:gridCol w="1837194"/>
                <a:gridCol w="609360"/>
                <a:gridCol w="1837194"/>
                <a:gridCol w="1837194"/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>
                          <a:effectLst/>
                        </a:rPr>
                        <a:t> </a:t>
                      </a:r>
                      <a:endParaRPr lang="en-IN" sz="1200">
                        <a:effectLst/>
                      </a:endParaRPr>
                    </a:p>
                  </a:txBody>
                  <a:tcPr marL="0" marR="291659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1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0" marR="291659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1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0" marR="291659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1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0" marR="291659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1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0" marR="291659" marT="0" marB="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1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-1143000" y="1711416"/>
            <a:ext cx="7000875" cy="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-1066800" y="17114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228600" y="1523365"/>
            <a:ext cx="8770620" cy="7385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The Forest Fire Early Warning System using AWS</a:t>
            </a:r>
            <a:endParaRPr lang="en-US" altLang="en-US" sz="2400" b="1" i="1" dirty="0">
              <a:solidFill>
                <a:schemeClr val="tx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graphicFrame>
        <p:nvGraphicFramePr>
          <p:cNvPr id="91" name="Google Shape;91;p1"/>
          <p:cNvGraphicFramePr/>
          <p:nvPr/>
        </p:nvGraphicFramePr>
        <p:xfrm>
          <a:off x="418084" y="2362200"/>
          <a:ext cx="7868285" cy="1879630"/>
        </p:xfrm>
        <a:graphic>
          <a:graphicData uri="http://schemas.openxmlformats.org/drawingml/2006/table">
            <a:tbl>
              <a:tblPr firstRow="1" bandRow="1">
                <a:noFill/>
                <a:tableStyleId>{3FE9A410-3C7E-45CF-B99F-7443693FEE4E}</a:tableStyleId>
              </a:tblPr>
              <a:tblGrid>
                <a:gridCol w="1532255"/>
                <a:gridCol w="804545"/>
                <a:gridCol w="2233930"/>
                <a:gridCol w="3297555"/>
              </a:tblGrid>
              <a:tr h="3962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No.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Div.</a:t>
                      </a:r>
                      <a:endParaRPr sz="20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Enrolment No.</a:t>
                      </a:r>
                      <a:endParaRPr sz="20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of Student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6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2313023026</a:t>
                      </a:r>
                      <a:endParaRPr lang="en-US" sz="16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IN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ECE</a:t>
                      </a:r>
                      <a:endParaRPr lang="en-IN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ADT23SESB0226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Snehal Babasaheb Sukashe 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6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2313023015</a:t>
                      </a:r>
                      <a:endParaRPr lang="en-US" sz="16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ECE</a:t>
                      </a:r>
                      <a:endParaRPr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ADT23SESB0215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Prajwal Ashok Bahir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6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2313023035</a:t>
                      </a:r>
                      <a:endParaRPr lang="en-IN" altLang="en-US" sz="16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ECE</a:t>
                      </a:r>
                      <a:endParaRPr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ADT23SESB0235</a:t>
                      </a:r>
                      <a:endParaRPr lang="en-IN" alt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altLang="en-IN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Rohit Balasaheb Darode</a:t>
                      </a:r>
                      <a:endParaRPr lang="en-US" altLang="en-IN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6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2313023002</a:t>
                      </a:r>
                      <a:endParaRPr lang="en-US" sz="16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IN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ECE</a:t>
                      </a:r>
                      <a:endParaRPr lang="en-IN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ADT23SESB0202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Akash Shantling Deshmukhe</a:t>
                      </a:r>
                      <a:endParaRPr lang="en-US"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4" name="Google Shape;94;p1"/>
          <p:cNvGraphicFramePr/>
          <p:nvPr/>
        </p:nvGraphicFramePr>
        <p:xfrm>
          <a:off x="603503" y="5105400"/>
          <a:ext cx="7931150" cy="792480"/>
        </p:xfrm>
        <a:graphic>
          <a:graphicData uri="http://schemas.openxmlformats.org/drawingml/2006/table">
            <a:tbl>
              <a:tblPr firstRow="1" bandRow="1">
                <a:noFill/>
                <a:tableStyleId>{3FE9A410-3C7E-45CF-B99F-7443693FEE4E}</a:tableStyleId>
              </a:tblPr>
              <a:tblGrid>
                <a:gridCol w="3823100"/>
                <a:gridCol w="41078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of Guide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0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Prof. Dr Megha Wankhade</a:t>
                      </a:r>
                      <a:endParaRPr lang="en-US" sz="20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endParaRPr lang="en-US"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altLang="en-US" sz="2000" b="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Prof. Dr Pranav Chippalkatti</a:t>
                      </a:r>
                      <a:endParaRPr lang="en-US" altLang="en-US" sz="20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3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629400" y="165100"/>
            <a:ext cx="2314575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629400" y="165100"/>
            <a:ext cx="2314575" cy="89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1500" y="1358910"/>
            <a:ext cx="8001000" cy="2837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 algn="just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latin typeface="Times New Roman" panose="02020603050405020304"/>
                <a:cs typeface="Times New Roman" panose="02020603050405020304"/>
              </a:rPr>
              <a:t>Statement:</a:t>
            </a:r>
            <a:endParaRPr lang="en-US" sz="2400" b="1" spc="-10" dirty="0">
              <a:latin typeface="Times New Roman" panose="02020603050405020304"/>
              <a:cs typeface="Times New Roman" panose="02020603050405020304"/>
            </a:endParaRPr>
          </a:p>
          <a:p>
            <a:pPr marL="15875" algn="just">
              <a:lnSpc>
                <a:spcPct val="100000"/>
              </a:lnSpc>
              <a:spcBef>
                <a:spcPts val="105"/>
              </a:spcBef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00000"/>
              </a:lnSpc>
              <a:spcBef>
                <a:spcPts val="880"/>
              </a:spcBef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Forest fires endanger wildlife, forests, and communities, yet existing detection methods remain slow and unreliable. A real-time, intelligent early warning system is essential to reduce risks and prevent large-scale damage</a:t>
            </a:r>
            <a:endParaRPr lang="en-US" altLang="en-US" sz="2400" b="1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00000"/>
              </a:lnSpc>
              <a:spcBef>
                <a:spcPts val="880"/>
              </a:spcBef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6200" y="165100"/>
            <a:ext cx="6845935" cy="615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1F5F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533399" y="1371437"/>
            <a:ext cx="7836847" cy="4523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Objectives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design a real-time forest fire detection system using ESP8266 and multiple sensors.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monitor temperature, humidity, smoke, and flame levels continuously.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send instant alerts through AWS IoT Core and SNS when abnormal readings are detected.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create a low-cost and reliable solution for early forest fire warning and prevention.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8130" y="1371876"/>
          <a:ext cx="8305800" cy="4617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91029"/>
                <a:gridCol w="1721262"/>
                <a:gridCol w="3659909"/>
                <a:gridCol w="2133600"/>
              </a:tblGrid>
              <a:tr h="3708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Ref. No.</a:t>
                      </a:r>
                      <a:endParaRPr lang="en-US" sz="1800" b="0" dirty="0">
                        <a:effectLst/>
                        <a:latin typeface="Times New Roman" panose="02020603050405020304" charset="0"/>
                        <a:ea typeface="Calibri" panose="020F05020202040302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Paper </a:t>
                      </a: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Title</a:t>
                      </a:r>
                      <a:endParaRPr kumimoji="0" lang="en-I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  <a:p>
                      <a:pPr algn="ctr"/>
                      <a:endParaRPr kumimoji="0" lang="en-I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Author Names, Name of Journal/Conference, Volume No., Year </a:t>
                      </a:r>
                      <a:r>
                        <a:rPr lang="en-US" sz="1800" b="0" baseline="0" dirty="0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of publication etc.</a:t>
                      </a:r>
                      <a:endParaRPr lang="en-US" sz="1800" b="0" baseline="0" dirty="0">
                        <a:effectLst/>
                        <a:latin typeface="Times New Roman" panose="02020603050405020304" charset="0"/>
                        <a:ea typeface="Calibri" panose="020F05020202040302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Findings</a:t>
                      </a:r>
                      <a:endParaRPr lang="en-IN" sz="18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en-IN" sz="1800" b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45160"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AI-Based Forest Fire Detection and Alert System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Sharma, R. et al., IJER, 2023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Describes an IoT and AI system using sensors for real-time forest fire detection and alert generation.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</a:tr>
              <a:tr h="370840"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Cloud-Based Forest Fire Detection System Using Machine Learning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Lee, J. &amp; Kim, H., IJCA, 2024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Proposes a cloud-integrated system using AWS for scalable fire detection and remote monitoring.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</a:tr>
              <a:tr h="370840"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Real-Time Forest Fire Detection Using Arduino and Wireless Sensors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Gupta, S., International Journal of Sensor Networks, 2022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Focuses on Arduino-based sensor deployment for real-time environmental monitoring in forest areas.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</a:tr>
              <a:tr h="370840"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4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IoT and AI for Early Warning Systems in Forest Fire Management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Wang, L. &amp; Zhao, Y., IEEE Access, 2024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 latinLnBrk="0"/>
                      <a:r>
                        <a:rPr lang="en-US" altLang="zh-C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Reviews AI and IoT integration for early fire detection and efficient alerting to reduce damage.</a:t>
                      </a:r>
                      <a:endParaRPr lang="en-US" altLang="zh-C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</a:tr>
              <a:tr h="370840">
                <a:tc>
                  <a:txBody>
                    <a:bodyPr/>
                    <a:p>
                      <a:pPr marL="0" indent="0" fontAlgn="base"/>
                      <a:r>
                        <a:rPr lang="en-IN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5</a:t>
                      </a:r>
                      <a:endParaRPr lang="en-IN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en-US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Machine Learning Models for Environmental Hazard Detection in Forest</a:t>
                      </a:r>
                      <a:endParaRPr lang="en-US" altLang="en-US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en-US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Patel, K. et al., Environmental Science and Technology, 2023</a:t>
                      </a:r>
                      <a:endParaRPr lang="en-US" altLang="en-US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en-US" sz="1100" i="0">
                          <a:latin typeface="Arial" panose="020B0604020202020204" pitchFamily="34" charset="0"/>
                          <a:ea typeface="fkGroteskNeue"/>
                          <a:cs typeface="Arial" panose="020B0604020202020204" pitchFamily="34" charset="0"/>
                        </a:rPr>
                        <a:t>Demonstrates the use of AI models to analyze sensor data for accurate hazard prediction and early warning.</a:t>
                      </a:r>
                      <a:endParaRPr lang="en-US" altLang="en-US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  <a:p>
                      <a:pPr marL="0" indent="0" fontAlgn="base"/>
                      <a:endParaRPr lang="en-US" altLang="en-US" sz="1100" i="0">
                        <a:latin typeface="Arial" panose="020B0604020202020204" pitchFamily="34" charset="0"/>
                        <a:ea typeface="fkGroteskNeue"/>
                        <a:cs typeface="Arial" panose="020B0604020202020204" pitchFamily="34" charset="0"/>
                      </a:endParaRPr>
                    </a:p>
                  </a:txBody>
                  <a:tcPr marL="61277" marR="61277" marT="76200" marB="76200"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72225" y="247650"/>
            <a:ext cx="2314575" cy="8953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1467081"/>
            <a:ext cx="6553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Need of Project / SDGs Goals Satisfied: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6842" y="1859848"/>
            <a:ext cx="6745351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Need: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Protect wildlife and forest ecosystems.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Minimize loss of human lives and property.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b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SDG Goals satisfied: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 rot="10800000" flipV="1">
            <a:off x="533400" y="4058699"/>
            <a:ext cx="8610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SDG 13 – Climate Action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SDG 15 – Life on Land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SDG 11 – Sustainable Cities &amp; Communities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SDG 9 – Industry, Innovation &amp; Infrastructure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SDG 7 – Affordable &amp; Clean Energy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72225" y="247650"/>
            <a:ext cx="2314575" cy="8953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296670"/>
            <a:ext cx="32689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Block Diagram </a:t>
            </a:r>
            <a:r>
              <a:rPr lang="en-IN" sz="2400" dirty="0"/>
              <a:t>:</a:t>
            </a:r>
            <a:endParaRPr lang="en-IN" sz="24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304800" y="1981200"/>
            <a:ext cx="8643620" cy="3276600"/>
            <a:chOff x="480" y="3120"/>
            <a:chExt cx="13612" cy="5160"/>
          </a:xfrm>
        </p:grpSpPr>
        <p:sp>
          <p:nvSpPr>
            <p:cNvPr id="4" name="Rectangles 3"/>
            <p:cNvSpPr/>
            <p:nvPr/>
          </p:nvSpPr>
          <p:spPr>
            <a:xfrm>
              <a:off x="4800" y="3120"/>
              <a:ext cx="2400" cy="51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en-IN"/>
                <a:t>ESP 32</a:t>
              </a:r>
              <a:endParaRPr lang="en-US" altLang="en-IN"/>
            </a:p>
          </p:txBody>
        </p:sp>
        <p:sp>
          <p:nvSpPr>
            <p:cNvPr id="8" name="Rectangles 7"/>
            <p:cNvSpPr/>
            <p:nvPr/>
          </p:nvSpPr>
          <p:spPr>
            <a:xfrm>
              <a:off x="480" y="3360"/>
              <a:ext cx="2880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IN" altLang="en-US"/>
                <a:t>DHT 11</a:t>
              </a:r>
              <a:endParaRPr lang="en-IN" altLang="en-US"/>
            </a:p>
          </p:txBody>
        </p:sp>
        <p:sp>
          <p:nvSpPr>
            <p:cNvPr id="10" name="Rectangles 9"/>
            <p:cNvSpPr/>
            <p:nvPr/>
          </p:nvSpPr>
          <p:spPr>
            <a:xfrm>
              <a:off x="480" y="4800"/>
              <a:ext cx="2880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IN" altLang="en-US"/>
                <a:t>MQ 3</a:t>
              </a:r>
              <a:endParaRPr lang="en-IN" altLang="en-US"/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8640" y="3480"/>
              <a:ext cx="2880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IN" altLang="en-US"/>
                <a:t>Flame Sensor</a:t>
              </a:r>
              <a:endParaRPr lang="en-IN" alt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3360" y="3840"/>
              <a:ext cx="144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360" y="5400"/>
              <a:ext cx="144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Rectangles 19"/>
            <p:cNvSpPr/>
            <p:nvPr/>
          </p:nvSpPr>
          <p:spPr>
            <a:xfrm>
              <a:off x="8640" y="5057"/>
              <a:ext cx="2880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IN" altLang="en-US"/>
                <a:t>OLED</a:t>
              </a:r>
              <a:endParaRPr lang="en-IN" altLang="en-US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7200" y="5633"/>
              <a:ext cx="144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3" idx="1"/>
            </p:cNvCxnSpPr>
            <p:nvPr/>
          </p:nvCxnSpPr>
          <p:spPr>
            <a:xfrm flipH="1">
              <a:off x="7200" y="4020"/>
              <a:ext cx="1440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Rectangles 22"/>
            <p:cNvSpPr/>
            <p:nvPr/>
          </p:nvSpPr>
          <p:spPr>
            <a:xfrm>
              <a:off x="8640" y="6960"/>
              <a:ext cx="2880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IN" altLang="en-US"/>
                <a:t>AWS IoT Core</a:t>
              </a:r>
              <a:endParaRPr lang="en-IN" altLang="en-US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7200" y="7482"/>
              <a:ext cx="144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Text Box 25"/>
            <p:cNvSpPr txBox="1"/>
            <p:nvPr/>
          </p:nvSpPr>
          <p:spPr>
            <a:xfrm>
              <a:off x="7341" y="6829"/>
              <a:ext cx="16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IN" altLang="en-US" sz="1600">
                  <a:effectLst/>
                </a:rPr>
                <a:t>MQTT</a:t>
              </a:r>
              <a:endParaRPr lang="en-IN" altLang="en-US" sz="1600">
                <a:effectLst/>
              </a:endParaRPr>
            </a:p>
          </p:txBody>
        </p:sp>
        <p:sp>
          <p:nvSpPr>
            <p:cNvPr id="2" name="Rectangles 1"/>
            <p:cNvSpPr/>
            <p:nvPr/>
          </p:nvSpPr>
          <p:spPr>
            <a:xfrm>
              <a:off x="11880" y="6960"/>
              <a:ext cx="2213" cy="1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en-IN"/>
                <a:t>Alert System</a:t>
              </a:r>
              <a:endParaRPr lang="en-US" altLang="en-IN"/>
            </a:p>
          </p:txBody>
        </p:sp>
        <p:cxnSp>
          <p:nvCxnSpPr>
            <p:cNvPr id="16" name="Straight Arrow Connector 15"/>
            <p:cNvCxnSpPr>
              <a:endCxn id="2" idx="1"/>
            </p:cNvCxnSpPr>
            <p:nvPr/>
          </p:nvCxnSpPr>
          <p:spPr>
            <a:xfrm>
              <a:off x="11520" y="7482"/>
              <a:ext cx="360" cy="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23" y="1602107"/>
            <a:ext cx="7873618" cy="369332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Methodology Used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81800" y="161310"/>
            <a:ext cx="2133598" cy="981690"/>
          </a:xfrm>
          <a:prstGeom prst="rect">
            <a:avLst/>
          </a:prstGeom>
        </p:spPr>
      </p:pic>
      <p:sp>
        <p:nvSpPr>
          <p:cNvPr id="7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Diagram 7"/>
          <p:cNvGraphicFramePr/>
          <p:nvPr/>
        </p:nvGraphicFramePr>
        <p:xfrm>
          <a:off x="493395" y="2073275"/>
          <a:ext cx="7553960" cy="401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7721218" cy="36893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Hardware Requirements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81799" y="161310"/>
            <a:ext cx="2133599" cy="98169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 rot="10800000" flipV="1">
            <a:off x="457200" y="1752600"/>
            <a:ext cx="8610600" cy="342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ESP 32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DHT11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Flame Sensor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OLED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MQ-3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 Software Requirements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 rot="10800000" flipV="1">
            <a:off x="457200" y="4339718"/>
            <a:ext cx="868680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AWS Cloud (IoT Core, SNS)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Arduino IDE + AWS Console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19201"/>
            <a:ext cx="8686800" cy="5242558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Components Used with Specifications: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34200" y="152400"/>
            <a:ext cx="1981198" cy="793053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233362" y="945453"/>
            <a:ext cx="6167438" cy="45720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Table 9"/>
          <p:cNvGraphicFramePr/>
          <p:nvPr/>
        </p:nvGraphicFramePr>
        <p:xfrm>
          <a:off x="198755" y="1676400"/>
          <a:ext cx="863727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530"/>
                <a:gridCol w="6555740"/>
              </a:tblGrid>
              <a:tr h="381000"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Component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Specification   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</a:tr>
              <a:tr h="500380">
                <a:tc>
                  <a:txBody>
                    <a:bodyPr/>
                    <a:p>
                      <a:pPr algn="ctr"/>
                      <a:r>
                        <a:rPr lang="en-US" altLang="en-US" sz="2000"/>
                        <a:t>ESP32-WROOM-32</a:t>
                      </a:r>
                      <a:endParaRPr lang="en-US" altLang="en-US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2000"/>
                        <a:t>Dual-core 32-bit Xtensa LX6 CPU, 3.0–3.6V supply, 802.11 b/g/n Wi-Fi + Bluetooth BLE, up to 30 GPIOs, UART/I²C/SPI/PWM/ADC/DAC interfaces, 4MB flash, low-power sleep modes.</a:t>
                      </a:r>
                      <a:endParaRPr lang="en-US" altLang="en-US" sz="20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DHT11 Sensor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Measures temperature 0–50°C (±2°C) &amp; humidity 20–90% RH (±5%), digital output, 3.3–5V supply, 1 Hz sampling rate.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Flame Sensor (IR-based, e.g., KY-026)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Detects flame IR wavelengths 760–1100 nm, 3.3–5V supply, digital &amp; analog output, detection distance up to 100 cm.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MQ-3 Gas Sensor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Detects alcohol, CO, methane; 5V supply, analog &amp; digital output, sensitivity adjustable via potentiometer, preheat 24–48 hrs.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OLED Display (SSD1306, 0.96")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/>
                        <a:t>Monochrome 128×64 pixels, 3.3–5V supply, I²C/SPI interface, ~20 mA active current, self-illuminated, viewing angle 160°–170°.</a:t>
                      </a:r>
                      <a:endParaRPr lang="en-US" altLang="zh-CN" sz="20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362" y="1392417"/>
            <a:ext cx="8097456" cy="1883944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CONCLUSION: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34200" y="161311"/>
            <a:ext cx="2057400" cy="784142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flipV="1">
            <a:off x="233362" y="945453"/>
            <a:ext cx="6167438" cy="45720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580390" y="2152650"/>
            <a:ext cx="7870825" cy="326707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project provides a smart and affordable solution for early forest fire detection using E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SP32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and AWS IoT. It helps monitor environmental changes in real time and sends instant alerts, reducing the risk of severe fire damage.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3362" y="1147699"/>
            <a:ext cx="5639435" cy="635"/>
          </a:xfrm>
          <a:custGeom>
            <a:avLst/>
            <a:gdLst/>
            <a:ahLst/>
            <a:cxnLst/>
            <a:rect l="l" t="t" r="r" b="b"/>
            <a:pathLst>
              <a:path w="5639435" h="634">
                <a:moveTo>
                  <a:pt x="5638863" y="126"/>
                </a:moveTo>
                <a:lnTo>
                  <a:pt x="0" y="0"/>
                </a:lnTo>
              </a:path>
            </a:pathLst>
          </a:custGeom>
          <a:ln w="9525">
            <a:solidFill>
              <a:srgbClr val="AD350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72225" y="247650"/>
            <a:ext cx="2314575" cy="895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2267485"/>
            <a:ext cx="7200900" cy="26125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Department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ECE,</a:t>
            </a:r>
            <a:r>
              <a:rPr spc="-35" dirty="0"/>
              <a:t> </a:t>
            </a:r>
            <a:r>
              <a:rPr dirty="0"/>
              <a:t>MIT</a:t>
            </a:r>
            <a:r>
              <a:rPr spc="5" dirty="0"/>
              <a:t> </a:t>
            </a:r>
            <a:r>
              <a:rPr spc="-20" dirty="0"/>
              <a:t>SOES</a:t>
            </a:r>
            <a:endParaRPr spc="-2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200" y="165100"/>
            <a:ext cx="6845935" cy="615315"/>
          </a:xfrm>
        </p:spPr>
        <p:txBody>
          <a:bodyPr wrap="square"/>
          <a:lstStyle/>
          <a:p>
            <a:pPr marL="124460" algn="ctr">
              <a:lnSpc>
                <a:spcPct val="100000"/>
              </a:lnSpc>
              <a:spcBef>
                <a:spcPts val="345"/>
              </a:spcBef>
            </a:pPr>
            <a:r>
              <a:rPr lang="en-US" dirty="0"/>
              <a:t>MIT</a:t>
            </a:r>
            <a:r>
              <a:rPr lang="en-US" spc="-65" dirty="0"/>
              <a:t> </a:t>
            </a:r>
            <a:r>
              <a:rPr lang="en-US" dirty="0"/>
              <a:t>School</a:t>
            </a:r>
            <a:r>
              <a:rPr lang="en-US" spc="-25" dirty="0"/>
              <a:t> </a:t>
            </a:r>
            <a:r>
              <a:rPr lang="en-IN" altLang="en-US" spc="-25" dirty="0"/>
              <a:t>of Computing </a:t>
            </a:r>
            <a:r>
              <a:rPr lang="en-US" dirty="0"/>
              <a:t>,</a:t>
            </a:r>
            <a:r>
              <a:rPr lang="en-US" spc="30" dirty="0"/>
              <a:t> </a:t>
            </a:r>
            <a:r>
              <a:rPr lang="en-US" spc="-20" dirty="0"/>
              <a:t>Pune</a:t>
            </a:r>
            <a:br>
              <a:rPr lang="en-US" spc="-20" dirty="0"/>
            </a:br>
            <a:r>
              <a:rPr lang="en-US" dirty="0">
                <a:solidFill>
                  <a:srgbClr val="006FC0"/>
                </a:solidFill>
              </a:rPr>
              <a:t>Department</a:t>
            </a:r>
            <a:r>
              <a:rPr lang="en-US" spc="-45" dirty="0">
                <a:solidFill>
                  <a:srgbClr val="006FC0"/>
                </a:solidFill>
              </a:rPr>
              <a:t> </a:t>
            </a:r>
            <a:r>
              <a:rPr lang="en-US" dirty="0">
                <a:solidFill>
                  <a:srgbClr val="006FC0"/>
                </a:solidFill>
              </a:rPr>
              <a:t>of</a:t>
            </a:r>
            <a:r>
              <a:rPr lang="en-US" spc="-30" dirty="0">
                <a:solidFill>
                  <a:srgbClr val="006FC0"/>
                </a:solidFill>
              </a:rPr>
              <a:t> </a:t>
            </a:r>
            <a:r>
              <a:rPr lang="en-IN" altLang="en-US" spc="-30" dirty="0">
                <a:solidFill>
                  <a:srgbClr val="006FC0"/>
                </a:solidFill>
              </a:rPr>
              <a:t>Computer</a:t>
            </a:r>
            <a:r>
              <a:rPr lang="en-US" spc="-10" dirty="0">
                <a:solidFill>
                  <a:srgbClr val="006FC0"/>
                </a:solidFill>
              </a:rPr>
              <a:t>  </a:t>
            </a:r>
            <a:r>
              <a:rPr lang="en-IN" altLang="en-US" spc="-10" dirty="0">
                <a:solidFill>
                  <a:srgbClr val="006FC0"/>
                </a:solidFill>
              </a:rPr>
              <a:t>Science</a:t>
            </a:r>
            <a:r>
              <a:rPr lang="en-US" spc="-10" dirty="0">
                <a:solidFill>
                  <a:srgbClr val="006FC0"/>
                </a:solidFill>
              </a:rPr>
              <a:t>   </a:t>
            </a:r>
            <a:r>
              <a:rPr lang="en-IN" altLang="en-US" spc="-10" dirty="0">
                <a:solidFill>
                  <a:srgbClr val="006FC0"/>
                </a:solidFill>
              </a:rPr>
              <a:t>and</a:t>
            </a:r>
            <a:r>
              <a:rPr lang="en-US" spc="-10" dirty="0">
                <a:solidFill>
                  <a:srgbClr val="006FC0"/>
                </a:solidFill>
              </a:rPr>
              <a:t>  Engineering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9725" y="2857500"/>
            <a:ext cx="6534150" cy="16668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5421" y="6443979"/>
            <a:ext cx="2164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8787"/>
                </a:solidFill>
                <a:latin typeface="Arial MT"/>
                <a:cs typeface="Arial MT"/>
              </a:rPr>
              <a:t>Department</a:t>
            </a:r>
            <a:r>
              <a:rPr sz="1200" spc="-40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8787"/>
                </a:solidFill>
                <a:latin typeface="Arial MT"/>
                <a:cs typeface="Arial MT"/>
              </a:rPr>
              <a:t>of</a:t>
            </a:r>
            <a:r>
              <a:rPr sz="1200" spc="-35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8787"/>
                </a:solidFill>
                <a:latin typeface="Arial MT"/>
                <a:cs typeface="Arial MT"/>
              </a:rPr>
              <a:t>ECE,</a:t>
            </a:r>
            <a:r>
              <a:rPr sz="1200" spc="-35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8787"/>
                </a:solidFill>
                <a:latin typeface="Arial MT"/>
                <a:cs typeface="Arial MT"/>
              </a:rPr>
              <a:t>MIT</a:t>
            </a:r>
            <a:r>
              <a:rPr sz="1200" spc="5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878787"/>
                </a:solidFill>
                <a:latin typeface="Arial MT"/>
                <a:cs typeface="Arial MT"/>
              </a:rPr>
              <a:t>SOES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1100" y="6443979"/>
            <a:ext cx="19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165100"/>
            <a:ext cx="2314575" cy="895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4730</Words>
  <Application>WPS Presentation</Application>
  <PresentationFormat>On-screen Show (4:3)</PresentationFormat>
  <Paragraphs>249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Arial MT</vt:lpstr>
      <vt:lpstr>Roboto</vt:lpstr>
      <vt:lpstr>Times New Roman</vt:lpstr>
      <vt:lpstr>Calibri</vt:lpstr>
      <vt:lpstr>Calibri</vt:lpstr>
      <vt:lpstr>fkGroteskNeue</vt:lpstr>
      <vt:lpstr>Segoe Print</vt:lpstr>
      <vt:lpstr>Microsoft YaHei</vt:lpstr>
      <vt:lpstr>Arial Unicode MS</vt:lpstr>
      <vt:lpstr>Office Theme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MIT School of Computing , Pune Department of Computer  Science   and  Engineering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Snehal</dc:creator>
  <cp:lastModifiedBy>Akash Deshmukhe</cp:lastModifiedBy>
  <cp:revision>11</cp:revision>
  <dcterms:created xsi:type="dcterms:W3CDTF">2025-02-19T16:49:00Z</dcterms:created>
  <dcterms:modified xsi:type="dcterms:W3CDTF">2025-10-30T17:11:31Z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2025-02-20T20:00:00Z</vt:filetime>
  </property>
  <property fmtid="{D5CDD505-2E9C-101B-9397-08002B2CF9AE}" pid="3" name="LastSaved">
    <vt:filetime>2025-02-20T20:00:00Z</vt:filetime>
  </property>
  <property fmtid="{D5CDD505-2E9C-101B-9397-08002B2CF9AE}" pid="4" name="ICV">
    <vt:lpwstr>206D5770A3F244DB87F677F2888DDA51_12</vt:lpwstr>
  </property>
  <property fmtid="{D5CDD505-2E9C-101B-9397-08002B2CF9AE}" pid="5" name="KSOProductBuildVer">
    <vt:lpwstr>1033-12.2.0.23131</vt:lpwstr>
  </property>
</Properties>
</file>