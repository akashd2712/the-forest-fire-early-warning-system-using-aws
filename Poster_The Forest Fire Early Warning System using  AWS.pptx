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pos="3839" userDrawn="1">
          <p15:clr>
            <a:srgbClr val="9AA0A6"/>
          </p15:clr>
        </p15:guide>
        <p15:guide id="2" orient="horz" pos="22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6" d="100"/>
          <a:sy n="76" d="100"/>
        </p:scale>
        <p:origin x="629" y="53"/>
      </p:cViewPr>
      <p:guideLst>
        <p:guide pos="3839"/>
        <p:guide orient="horz" pos="22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A picture containing logo&#10;&#10;Description automatically generated"/>
          <p:cNvPicPr preferRelativeResize="0"/>
          <p:nvPr/>
        </p:nvPicPr>
        <p:blipFill rotWithShape="1">
          <a:blip r:embed="rId1"/>
          <a:srcRect/>
          <a:stretch>
            <a:fillRect/>
          </a:stretch>
        </p:blipFill>
        <p:spPr>
          <a:xfrm>
            <a:off x="153573" y="6"/>
            <a:ext cx="2834333" cy="1268420"/>
          </a:xfrm>
          <a:prstGeom prst="rect">
            <a:avLst/>
          </a:prstGeom>
          <a:noFill/>
          <a:ln>
            <a:noFill/>
          </a:ln>
        </p:spPr>
      </p:pic>
      <p:sp>
        <p:nvSpPr>
          <p:cNvPr id="85" name="Google Shape;85;p13"/>
          <p:cNvSpPr txBox="1"/>
          <p:nvPr/>
        </p:nvSpPr>
        <p:spPr>
          <a:xfrm>
            <a:off x="3074503" y="829023"/>
            <a:ext cx="9030900" cy="1305560"/>
          </a:xfrm>
          <a:prstGeom prst="rect">
            <a:avLst/>
          </a:prstGeom>
          <a:solidFill>
            <a:srgbClr val="2F5496"/>
          </a:solidFill>
          <a:ln>
            <a:noFill/>
          </a:ln>
        </p:spPr>
        <p:txBody>
          <a:bodyPr spcFirstLastPara="1" wrap="square" lIns="91425" tIns="45700" rIns="0" bIns="45700" anchor="t" anchorCtr="0">
            <a:spAutoFit/>
          </a:bodyPr>
          <a:lstStyle/>
          <a:p>
            <a:pPr marL="0" marR="0" lvl="0" indent="0" algn="ctr" rtl="0">
              <a:lnSpc>
                <a:spcPct val="100000"/>
              </a:lnSpc>
              <a:spcBef>
                <a:spcPts val="0"/>
              </a:spcBef>
              <a:spcAft>
                <a:spcPts val="0"/>
              </a:spcAft>
              <a:buNone/>
            </a:pPr>
            <a:r>
              <a:rPr lang="en-US" sz="1600" b="0" i="0" u="none" strike="noStrike" cap="none" dirty="0">
                <a:solidFill>
                  <a:schemeClr val="lt1"/>
                </a:solidFill>
                <a:latin typeface="Century" panose="02040604050505020304"/>
                <a:ea typeface="Century" panose="02040604050505020304"/>
                <a:cs typeface="Century" panose="02040604050505020304"/>
                <a:sym typeface="Century" panose="02040604050505020304"/>
              </a:rPr>
              <a:t>DEPARTMENT OF COMPUTER SCIENCE &amp; ENGINEERING</a:t>
            </a:r>
            <a:endParaRPr lang="en-US" sz="1600" b="0" i="0" u="none" strike="noStrike" cap="none" dirty="0">
              <a:solidFill>
                <a:schemeClr val="lt1"/>
              </a:solidFill>
              <a:latin typeface="Century" panose="02040604050505020304"/>
              <a:ea typeface="Century" panose="02040604050505020304"/>
              <a:cs typeface="Century" panose="02040604050505020304"/>
              <a:sym typeface="Century" panose="02040604050505020304"/>
            </a:endParaRPr>
          </a:p>
          <a:p>
            <a:pPr marL="0" marR="0" lvl="0" indent="0" algn="ctr" rtl="0">
              <a:lnSpc>
                <a:spcPct val="100000"/>
              </a:lnSpc>
              <a:spcBef>
                <a:spcPts val="0"/>
              </a:spcBef>
              <a:spcAft>
                <a:spcPts val="0"/>
              </a:spcAft>
              <a:buNone/>
            </a:pPr>
            <a:r>
              <a:rPr lang="en-US" altLang="en-US" sz="1500" b="0" i="0" u="none" strike="noStrike" cap="none" dirty="0">
                <a:solidFill>
                  <a:schemeClr val="lt1"/>
                </a:solidFill>
                <a:latin typeface="Century" panose="02040604050505020304"/>
                <a:ea typeface="Century" panose="02040604050505020304"/>
                <a:cs typeface="Century" panose="02040604050505020304"/>
                <a:sym typeface="Century" panose="02040604050505020304"/>
              </a:rPr>
              <a:t>AIEC - MDM – IoT Applications with Raspberry Pi and Sensors (23CSE2712) SEM-V 2025-26</a:t>
            </a:r>
            <a:endParaRPr lang="en-US" altLang="en-US" sz="1500" b="0" i="0" u="none" strike="noStrike" cap="none" dirty="0">
              <a:solidFill>
                <a:schemeClr val="lt1"/>
              </a:solidFill>
              <a:latin typeface="Century" panose="02040604050505020304"/>
              <a:ea typeface="Century" panose="02040604050505020304"/>
              <a:cs typeface="Century" panose="02040604050505020304"/>
              <a:sym typeface="Century" panose="02040604050505020304"/>
            </a:endParaRPr>
          </a:p>
          <a:p>
            <a:pPr marL="0" marR="0" lvl="0" indent="0" algn="ctr" rtl="0">
              <a:lnSpc>
                <a:spcPct val="100000"/>
              </a:lnSpc>
              <a:spcBef>
                <a:spcPts val="0"/>
              </a:spcBef>
              <a:spcAft>
                <a:spcPts val="0"/>
              </a:spcAft>
              <a:buNone/>
            </a:pPr>
            <a:r>
              <a:rPr lang="en-US"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The Forest Fire Early Warning System using  AWS</a:t>
            </a:r>
            <a:endParaRPr lang="en-US"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endParaRPr>
          </a:p>
          <a:p>
            <a:pPr marL="0" marR="0" lvl="0" indent="0" algn="ctr" rtl="0">
              <a:lnSpc>
                <a:spcPct val="100000"/>
              </a:lnSpc>
              <a:spcBef>
                <a:spcPts val="0"/>
              </a:spcBef>
              <a:spcAft>
                <a:spcPts val="0"/>
              </a:spcAft>
              <a:buNone/>
            </a:pPr>
            <a:r>
              <a:rPr lang="en-IN"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Snehal Sukashe(ADT23SESB0226)</a:t>
            </a:r>
            <a:r>
              <a:rPr 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 </a:t>
            </a:r>
            <a:r>
              <a:rPr lang="en-IN"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Prajwal Bahir</a:t>
            </a:r>
            <a:r>
              <a:rPr lang="en-IN"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(ADT23SESB0215)</a:t>
            </a:r>
            <a:r>
              <a:rPr 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 ,</a:t>
            </a:r>
            <a:endParaRPr lang="en-US" sz="1600" i="1" dirty="0">
              <a:solidFill>
                <a:schemeClr val="lt1"/>
              </a:solidFill>
              <a:latin typeface="Century" panose="02040604050505020304" charset="0"/>
              <a:ea typeface="Calibri" panose="020F0502020204030204"/>
              <a:cs typeface="Century" panose="02040604050505020304" charset="0"/>
              <a:sym typeface="Calibri" panose="020F0502020204030204"/>
            </a:endParaRPr>
          </a:p>
          <a:p>
            <a:pPr marL="0" marR="0" lvl="0" indent="0" algn="ctr" rtl="0">
              <a:lnSpc>
                <a:spcPct val="100000"/>
              </a:lnSpc>
              <a:spcBef>
                <a:spcPts val="0"/>
              </a:spcBef>
              <a:spcAft>
                <a:spcPts val="0"/>
              </a:spcAft>
              <a:buNone/>
            </a:pPr>
            <a:r>
              <a:rPr lang="en-IN"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Rohit Darode</a:t>
            </a:r>
            <a:r>
              <a:rPr lang="en-IN"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(ADT23SESB0235)</a:t>
            </a:r>
            <a:r>
              <a:rPr 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 , </a:t>
            </a:r>
            <a:r>
              <a:rPr lang="en-IN"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Akash Deshmukhe</a:t>
            </a:r>
            <a:r>
              <a:rPr lang="en-IN"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rPr>
              <a:t>(ADT23SESB0202)</a:t>
            </a:r>
            <a:endParaRPr lang="en-IN" altLang="en-US" sz="1600" i="1" dirty="0">
              <a:solidFill>
                <a:schemeClr val="lt1"/>
              </a:solidFill>
              <a:latin typeface="Century" panose="02040604050505020304" charset="0"/>
              <a:ea typeface="Calibri" panose="020F0502020204030204"/>
              <a:cs typeface="Century" panose="02040604050505020304" charset="0"/>
              <a:sym typeface="Calibri" panose="020F0502020204030204"/>
            </a:endParaRPr>
          </a:p>
        </p:txBody>
      </p:sp>
      <p:sp>
        <p:nvSpPr>
          <p:cNvPr id="86" name="Google Shape;86;p13"/>
          <p:cNvSpPr txBox="1"/>
          <p:nvPr/>
        </p:nvSpPr>
        <p:spPr>
          <a:xfrm>
            <a:off x="163195" y="1287780"/>
            <a:ext cx="2834640" cy="831850"/>
          </a:xfrm>
          <a:prstGeom prst="rect">
            <a:avLst/>
          </a:prstGeom>
          <a:solidFill>
            <a:srgbClr val="FEE5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Faculty Guide:</a:t>
            </a:r>
            <a:endParaRPr sz="1200" dirty="0"/>
          </a:p>
          <a:p>
            <a:pPr lvl="0">
              <a:lnSpc>
                <a:spcPct val="130000"/>
              </a:lnSpc>
              <a:buSzPts val="1600"/>
            </a:pPr>
            <a:r>
              <a:rPr lang="en-US" dirty="0"/>
              <a:t>Prof. </a:t>
            </a:r>
            <a:r>
              <a:rPr lang="en-IN" altLang="en-US" dirty="0"/>
              <a:t>Dr. Megh</a:t>
            </a:r>
            <a:r>
              <a:rPr lang="en-US" altLang="en-IN" dirty="0"/>
              <a:t>a.M.</a:t>
            </a:r>
            <a:r>
              <a:rPr lang="en-IN" altLang="en-US" dirty="0"/>
              <a:t>Wankhade</a:t>
            </a:r>
            <a:endParaRPr lang="en-IN" altLang="en-US" dirty="0"/>
          </a:p>
          <a:p>
            <a:pPr lvl="0">
              <a:lnSpc>
                <a:spcPct val="130000"/>
              </a:lnSpc>
              <a:buSzPts val="1600"/>
            </a:pPr>
            <a:r>
              <a:rPr lang="en-US" altLang="en-IN" dirty="0"/>
              <a:t>Prof Dr .Pranav.P.Chippalkatti</a:t>
            </a:r>
            <a:endParaRPr lang="en-IN" altLang="en-US" dirty="0"/>
          </a:p>
          <a:p>
            <a:pPr lvl="0">
              <a:lnSpc>
                <a:spcPct val="150000"/>
              </a:lnSpc>
              <a:buSzPts val="1600"/>
            </a:pPr>
            <a:endParaRPr lang="en-IN" altLang="en-US" dirty="0"/>
          </a:p>
        </p:txBody>
      </p:sp>
      <p:sp>
        <p:nvSpPr>
          <p:cNvPr id="88" name="Google Shape;88;p13"/>
          <p:cNvSpPr txBox="1"/>
          <p:nvPr/>
        </p:nvSpPr>
        <p:spPr>
          <a:xfrm>
            <a:off x="3074504" y="170085"/>
            <a:ext cx="7420624" cy="584775"/>
          </a:xfrm>
          <a:prstGeom prst="rect">
            <a:avLst/>
          </a:prstGeom>
          <a:solidFill>
            <a:srgbClr val="B3C6E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323F4F"/>
                </a:solidFill>
                <a:latin typeface="Century" panose="02040604050505020304"/>
                <a:ea typeface="Century" panose="02040604050505020304"/>
                <a:cs typeface="Century" panose="02040604050505020304"/>
                <a:sym typeface="Century" panose="02040604050505020304"/>
              </a:rPr>
              <a:t>MIT SCHOOL OF COMPUTING </a:t>
            </a:r>
            <a:endParaRPr sz="3200" b="0" i="0" u="none" strike="noStrike" cap="none">
              <a:solidFill>
                <a:srgbClr val="323F4F"/>
              </a:solidFill>
              <a:latin typeface="Century" panose="02040604050505020304"/>
              <a:ea typeface="Century" panose="02040604050505020304"/>
              <a:cs typeface="Century" panose="02040604050505020304"/>
              <a:sym typeface="Century" panose="02040604050505020304"/>
            </a:endParaRPr>
          </a:p>
        </p:txBody>
      </p:sp>
      <p:sp>
        <p:nvSpPr>
          <p:cNvPr id="89" name="Google Shape;89;p13"/>
          <p:cNvSpPr txBox="1"/>
          <p:nvPr/>
        </p:nvSpPr>
        <p:spPr>
          <a:xfrm>
            <a:off x="-3345986" y="2629235"/>
            <a:ext cx="28695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 name="Google Shape;90;p13"/>
          <p:cNvSpPr txBox="1"/>
          <p:nvPr/>
        </p:nvSpPr>
        <p:spPr>
          <a:xfrm>
            <a:off x="90805" y="5257165"/>
            <a:ext cx="4507230" cy="151003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500" b="1" i="0" u="none" strike="noStrike" cap="none" dirty="0">
                <a:solidFill>
                  <a:schemeClr val="dk1"/>
                </a:solidFill>
              </a:rPr>
              <a:t>Problem </a:t>
            </a:r>
            <a:r>
              <a:rPr lang="en-US" sz="1500" b="1" dirty="0">
                <a:solidFill>
                  <a:schemeClr val="dk1"/>
                </a:solidFill>
              </a:rPr>
              <a:t>statement</a:t>
            </a:r>
            <a:endParaRPr sz="1500" b="1" dirty="0"/>
          </a:p>
          <a:p>
            <a:pPr algn="just">
              <a:spcBef>
                <a:spcPts val="880"/>
              </a:spcBef>
            </a:pPr>
            <a:r>
              <a:rPr lang="en-US" altLang="en-US" sz="1150" dirty="0">
                <a:solidFill>
                  <a:schemeClr val="dk1"/>
                </a:solidFill>
                <a:latin typeface="Times New Roman" panose="02020603050405020304" charset="0"/>
                <a:cs typeface="Times New Roman" panose="02020603050405020304" charset="0"/>
                <a:sym typeface="+mn-ea"/>
              </a:rPr>
              <a:t>Forest fires endanger wildlife, forests, and communities, yet existing detection methods remain slow and unreliable. A real-time, intelligent early warning system is essential to reduce risks and prevent large-scale dama</a:t>
            </a:r>
            <a:r>
              <a:rPr lang="en-US" altLang="en-US" sz="1200" dirty="0">
                <a:solidFill>
                  <a:schemeClr val="dk1"/>
                </a:solidFill>
                <a:latin typeface="Times New Roman" panose="02020603050405020304" charset="0"/>
                <a:ea typeface="Calibri" panose="020F0502020204030204"/>
                <a:cs typeface="Times New Roman" panose="02020603050405020304" charset="0"/>
                <a:sym typeface="+mn-ea"/>
              </a:rPr>
              <a:t>ge</a:t>
            </a:r>
            <a:endParaRPr lang="en-US" altLang="en-US" sz="1200" b="1" dirty="0">
              <a:solidFill>
                <a:schemeClr val="dk1"/>
              </a:solidFill>
              <a:latin typeface="Times New Roman" panose="02020603050405020304" charset="0"/>
              <a:ea typeface="Calibri" panose="020F0502020204030204"/>
              <a:cs typeface="Times New Roman" panose="02020603050405020304" charset="0"/>
              <a:sym typeface="+mn-ea"/>
            </a:endParaRPr>
          </a:p>
          <a:p>
            <a:pPr algn="just">
              <a:spcBef>
                <a:spcPts val="880"/>
              </a:spcBef>
            </a:pPr>
            <a:endParaRPr lang="en-US" altLang="en-US" sz="1200" b="1" dirty="0">
              <a:solidFill>
                <a:schemeClr val="dk1"/>
              </a:solidFill>
              <a:latin typeface="Times New Roman" panose="02020603050405020304" charset="0"/>
              <a:ea typeface="Calibri" panose="020F0502020204030204"/>
              <a:cs typeface="Times New Roman" panose="02020603050405020304" charset="0"/>
              <a:sym typeface="+mn-ea"/>
            </a:endParaRPr>
          </a:p>
        </p:txBody>
      </p:sp>
      <p:sp>
        <p:nvSpPr>
          <p:cNvPr id="91" name="Google Shape;91;p13"/>
          <p:cNvSpPr txBox="1"/>
          <p:nvPr/>
        </p:nvSpPr>
        <p:spPr>
          <a:xfrm>
            <a:off x="4659630" y="5245100"/>
            <a:ext cx="3825240" cy="1521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600" b="1" i="0" u="none" strike="noStrike" cap="none" dirty="0">
                <a:solidFill>
                  <a:schemeClr val="dk1"/>
                </a:solidFill>
              </a:rPr>
              <a:t>Proposed Solution</a:t>
            </a:r>
            <a:endParaRPr lang="en-US" sz="1600" b="1" i="0" u="none" strike="noStrike" cap="none" dirty="0">
              <a:solidFill>
                <a:schemeClr val="dk1"/>
              </a:solidFill>
            </a:endParaRPr>
          </a:p>
          <a:p>
            <a:pPr marL="0" marR="0" lvl="0" indent="0" algn="just" rtl="0">
              <a:lnSpc>
                <a:spcPct val="100000"/>
              </a:lnSpc>
              <a:spcBef>
                <a:spcPts val="0"/>
              </a:spcBef>
              <a:spcAft>
                <a:spcPts val="0"/>
              </a:spcAft>
              <a:buNone/>
            </a:pPr>
            <a:r>
              <a:rPr lang="en-US" altLang="en-US" sz="1150" b="0" i="0" u="none" strike="noStrike" cap="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The system uses an ESP32 microcontroller integrated with flame, MQ3 gas, and DHT11 sensors to monitor environmental conditions. Sensor data is processed and transmitted securely to AWS IoT Core, where it triggers alerts via AWS SNS for immediate response. An OLED display shows real-time readings, providing both local and cloud-based monitoring.</a:t>
            </a:r>
            <a:endParaRPr lang="en-US" altLang="en-US" sz="1150" b="0" i="0" u="none" strike="noStrike" cap="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92" name="Google Shape;92;p13"/>
          <p:cNvSpPr txBox="1"/>
          <p:nvPr/>
        </p:nvSpPr>
        <p:spPr>
          <a:xfrm>
            <a:off x="8545830" y="5257165"/>
            <a:ext cx="3600450" cy="153733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None/>
            </a:pPr>
            <a:r>
              <a:rPr lang="en-US" sz="1600" b="1" i="0" u="none" strike="noStrike" cap="none" dirty="0">
                <a:solidFill>
                  <a:schemeClr val="dk1"/>
                </a:solidFill>
              </a:rPr>
              <a:t>Scope and Feasibility</a:t>
            </a:r>
            <a:endParaRPr sz="1600" b="1" dirty="0"/>
          </a:p>
          <a:p>
            <a:pPr lvl="0" algn="just">
              <a:lnSpc>
                <a:spcPct val="90000"/>
              </a:lnSpc>
            </a:pPr>
            <a:r>
              <a:rPr lang="en-US" altLang="en-US" sz="1150" b="0" i="0" u="none" strike="noStrike" cap="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The project aims to develop a smart Forest Fire Early Warning System using ESP32, DHT11, MQ3, and Flame sensors integrated with AWS IoT Core. It monitors temperature, humidity, smoke, and flame levels, sending real-time alerts through AWS SNS. The system is cost-effective, easy to implement, and scalable for large forest areas, making it a reliable solution for early fire detection and environmental safety.</a:t>
            </a:r>
            <a:endParaRPr lang="en-US" altLang="en-US" sz="1150" b="0" i="0" u="none" strike="noStrike" cap="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93" name="Google Shape;93;p13"/>
          <p:cNvSpPr txBox="1"/>
          <p:nvPr/>
        </p:nvSpPr>
        <p:spPr>
          <a:xfrm>
            <a:off x="10054590" y="169545"/>
            <a:ext cx="2137410" cy="585470"/>
          </a:xfrm>
          <a:prstGeom prst="rect">
            <a:avLst/>
          </a:prstGeom>
          <a:solidFill>
            <a:srgbClr val="FEE5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Class : TY </a:t>
            </a:r>
            <a:r>
              <a:rPr lang="en-IN" altLang="en-US" sz="16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ECE</a:t>
            </a:r>
            <a:endParaRPr dirty="0"/>
          </a:p>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Group ID :</a:t>
            </a:r>
            <a:r>
              <a:rPr lang="en-US" altLang="en-US" dirty="0"/>
              <a:t>MAI252610</a:t>
            </a:r>
            <a:endParaRPr lang="en-US" altLang="en-US" dirty="0"/>
          </a:p>
          <a:p>
            <a:pPr marL="0" marR="0" lvl="0" indent="0" algn="l" rtl="0">
              <a:lnSpc>
                <a:spcPct val="100000"/>
              </a:lnSpc>
              <a:spcBef>
                <a:spcPts val="0"/>
              </a:spcBef>
              <a:spcAft>
                <a:spcPts val="0"/>
              </a:spcAft>
              <a:buClr>
                <a:srgbClr val="000000"/>
              </a:buClr>
              <a:buSzPts val="1600"/>
              <a:buFont typeface="Arial" panose="020B0604020202020204"/>
              <a:buNone/>
            </a:pPr>
            <a:endParaRPr lang="en-US" altLang="en-US" dirty="0"/>
          </a:p>
        </p:txBody>
      </p:sp>
      <p:pic>
        <p:nvPicPr>
          <p:cNvPr id="2" name="Picture 1"/>
          <p:cNvPicPr>
            <a:picLocks noChangeAspect="1"/>
          </p:cNvPicPr>
          <p:nvPr/>
        </p:nvPicPr>
        <p:blipFill>
          <a:blip r:embed="rId2"/>
          <a:srcRect t="1150" r="479"/>
          <a:stretch>
            <a:fillRect/>
          </a:stretch>
        </p:blipFill>
        <p:spPr>
          <a:xfrm>
            <a:off x="90170" y="2193925"/>
            <a:ext cx="4373245" cy="2992755"/>
          </a:xfrm>
          <a:prstGeom prst="rect">
            <a:avLst/>
          </a:prstGeom>
        </p:spPr>
      </p:pic>
      <p:graphicFrame>
        <p:nvGraphicFramePr>
          <p:cNvPr id="56" name="Table 55"/>
          <p:cNvGraphicFramePr/>
          <p:nvPr>
            <p:custDataLst>
              <p:tags r:id="rId3"/>
            </p:custDataLst>
          </p:nvPr>
        </p:nvGraphicFramePr>
        <p:xfrm>
          <a:off x="4596765" y="2193290"/>
          <a:ext cx="3510280" cy="2974340"/>
        </p:xfrm>
        <a:graphic>
          <a:graphicData uri="http://schemas.openxmlformats.org/drawingml/2006/table">
            <a:tbl>
              <a:tblPr firstRow="1" bandRow="1">
                <a:tableStyleId>{5C22544A-7EE6-4342-B048-85BDC9FD1C3A}</a:tableStyleId>
              </a:tblPr>
              <a:tblGrid>
                <a:gridCol w="218440"/>
                <a:gridCol w="796290"/>
                <a:gridCol w="2495550"/>
              </a:tblGrid>
              <a:tr h="502285">
                <a:tc>
                  <a:txBody>
                    <a:bodyPr/>
                    <a:p>
                      <a:pPr algn="l"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Sr. No.</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c>
                  <a:txBody>
                    <a:bodyPr/>
                    <a:p>
                      <a:pPr algn="l"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Requirement</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c>
                  <a:txBody>
                    <a:bodyPr/>
                    <a:p>
                      <a:pPr algn="l"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Proposed Solution</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r>
              <a:tr h="817245">
                <a:tc>
                  <a:txBody>
                    <a:bodyPr/>
                    <a:p>
                      <a:pPr algn="r"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1</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c>
                  <a:txBody>
                    <a:bodyPr/>
                    <a:p>
                      <a:pPr algn="l"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Sensors</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c>
                  <a:txBody>
                    <a:bodyPr/>
                    <a:p>
                      <a:pPr algn="l"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Use multiple sensors (temperature, smoke, flame, ) to collect real-time forest data.</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r>
              <a:tr h="854075">
                <a:tc>
                  <a:txBody>
                    <a:bodyPr/>
                    <a:p>
                      <a:pPr algn="r"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2</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c>
                  <a:txBody>
                    <a:bodyPr/>
                    <a:p>
                      <a:pPr algn="l"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Data Transmission</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c>
                  <a:txBody>
                    <a:bodyPr/>
                    <a:p>
                      <a:pPr algn="l"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Send sensor data wirelessly from Arduino Mega WiFi to AWS IoT Core using MQTT protocol.</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r>
              <a:tr h="800735">
                <a:tc>
                  <a:txBody>
                    <a:bodyPr/>
                    <a:p>
                      <a:pPr algn="r" fontAlgn="ctr"/>
                      <a:r>
                        <a:rPr lang="en-IN" altLang="en-US" sz="1100" b="0" i="0">
                          <a:solidFill>
                            <a:srgbClr val="000000"/>
                          </a:solidFill>
                          <a:latin typeface="Times New Roman" panose="02020603050405020304" charset="0"/>
                          <a:ea typeface="Calibri" panose="020F0502020204030204"/>
                          <a:cs typeface="Times New Roman" panose="02020603050405020304" charset="0"/>
                        </a:rPr>
                        <a:t>3</a:t>
                      </a:r>
                      <a:endParaRPr lang="en-IN" altLang="en-US"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c>
                  <a:txBody>
                    <a:bodyPr/>
                    <a:p>
                      <a:pPr algn="l"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Alerts</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c>
                  <a:txBody>
                    <a:bodyPr/>
                    <a:p>
                      <a:pPr algn="l" fontAlgn="ctr"/>
                      <a:r>
                        <a:rPr lang="en-US" altLang="zh-CN" sz="1100" b="0" i="0">
                          <a:solidFill>
                            <a:srgbClr val="000000"/>
                          </a:solidFill>
                          <a:latin typeface="Times New Roman" panose="02020603050405020304" charset="0"/>
                          <a:ea typeface="Calibri" panose="020F0502020204030204"/>
                          <a:cs typeface="Times New Roman" panose="02020603050405020304" charset="0"/>
                        </a:rPr>
                        <a:t>Send instant alerts via </a:t>
                      </a:r>
                      <a:r>
                        <a:rPr lang="en-IN" altLang="en-US" sz="1100" b="0" i="0">
                          <a:solidFill>
                            <a:srgbClr val="000000"/>
                          </a:solidFill>
                          <a:latin typeface="Times New Roman" panose="02020603050405020304" charset="0"/>
                          <a:ea typeface="Calibri" panose="020F0502020204030204"/>
                          <a:cs typeface="Times New Roman" panose="02020603050405020304" charset="0"/>
                        </a:rPr>
                        <a:t>SNS</a:t>
                      </a:r>
                      <a:r>
                        <a:rPr lang="en-US" altLang="zh-CN" sz="1100" b="0" i="0">
                          <a:solidFill>
                            <a:srgbClr val="000000"/>
                          </a:solidFill>
                          <a:latin typeface="Times New Roman" panose="02020603050405020304" charset="0"/>
                          <a:ea typeface="Calibri" panose="020F0502020204030204"/>
                          <a:cs typeface="Times New Roman" panose="02020603050405020304" charset="0"/>
                        </a:rPr>
                        <a:t> and display local warnings on OLED screens for quick action.</a:t>
                      </a:r>
                      <a:endParaRPr lang="en-US" altLang="zh-CN" sz="1100" b="0" i="0">
                        <a:solidFill>
                          <a:srgbClr val="000000"/>
                        </a:solidFill>
                        <a:latin typeface="Times New Roman" panose="02020603050405020304" charset="0"/>
                        <a:ea typeface="Calibri" panose="020F0502020204030204"/>
                        <a:cs typeface="Times New Roman" panose="02020603050405020304" charset="0"/>
                      </a:endParaRPr>
                    </a:p>
                  </a:txBody>
                  <a:tcPr marL="7937" marR="7937" marT="7937" marB="0" anchor="ctr" anchorCtr="0"/>
                </a:tc>
              </a:tr>
            </a:tbl>
          </a:graphicData>
        </a:graphic>
      </p:graphicFrame>
      <p:pic>
        <p:nvPicPr>
          <p:cNvPr id="5" name="Picture 1"/>
          <p:cNvPicPr>
            <a:picLocks noChangeAspect="1"/>
          </p:cNvPicPr>
          <p:nvPr/>
        </p:nvPicPr>
        <p:blipFill>
          <a:blip r:embed="rId4"/>
          <a:stretch>
            <a:fillRect/>
          </a:stretch>
        </p:blipFill>
        <p:spPr>
          <a:xfrm>
            <a:off x="8240395" y="2190750"/>
            <a:ext cx="3681095" cy="1560195"/>
          </a:xfrm>
          <a:prstGeom prst="rect">
            <a:avLst/>
          </a:prstGeom>
          <a:noFill/>
          <a:ln>
            <a:solidFill>
              <a:schemeClr val="tx1"/>
            </a:solidFill>
          </a:ln>
        </p:spPr>
      </p:pic>
      <p:pic>
        <p:nvPicPr>
          <p:cNvPr id="6" name="Picture 6" descr="circuit_image (11)"/>
          <p:cNvPicPr>
            <a:picLocks noChangeAspect="1"/>
          </p:cNvPicPr>
          <p:nvPr/>
        </p:nvPicPr>
        <p:blipFill>
          <a:blip r:embed="rId5"/>
          <a:srcRect t="9050" b="9419"/>
          <a:stretch>
            <a:fillRect/>
          </a:stretch>
        </p:blipFill>
        <p:spPr>
          <a:xfrm>
            <a:off x="9289415" y="3860800"/>
            <a:ext cx="2173605" cy="13500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83"/>
        <p:cNvGrpSpPr/>
        <p:nvPr/>
      </p:nvGrpSpPr>
      <p:grpSpPr>
        <a:xfrm>
          <a:off x="0" y="0"/>
          <a:ext cx="0" cy="0"/>
          <a:chOff x="0" y="0"/>
          <a:chExt cx="0" cy="0"/>
        </a:xfrm>
      </p:grpSpPr>
      <p:graphicFrame>
        <p:nvGraphicFramePr>
          <p:cNvPr id="2" name="Table 1"/>
          <p:cNvGraphicFramePr>
            <a:graphicFrameLocks noGrp="1"/>
          </p:cNvGraphicFramePr>
          <p:nvPr/>
        </p:nvGraphicFramePr>
        <p:xfrm>
          <a:off x="4005817" y="1742215"/>
          <a:ext cx="4507230" cy="3197860"/>
        </p:xfrm>
        <a:graphic>
          <a:graphicData uri="http://schemas.openxmlformats.org/drawingml/2006/table">
            <a:tbl>
              <a:tblPr firstRow="1" bandRow="1">
                <a:tableStyleId>{5C22544A-7EE6-4342-B048-85BDC9FD1C3A}</a:tableStyleId>
              </a:tblPr>
              <a:tblGrid>
                <a:gridCol w="2212975"/>
                <a:gridCol w="2294239"/>
              </a:tblGrid>
              <a:tr h="1564005">
                <a:tc>
                  <a:txBody>
                    <a:bodyPr/>
                    <a:p>
                      <a:pPr>
                        <a:lnSpc>
                          <a:spcPct val="80000"/>
                        </a:lnSpc>
                      </a:pPr>
                      <a:r>
                        <a:rPr lang="en-US" b="1" dirty="0">
                          <a:solidFill>
                            <a:schemeClr val="tx1"/>
                          </a:solidFill>
                        </a:rPr>
                        <a:t>What user Says</a:t>
                      </a:r>
                      <a:endParaRPr lang="en-US" b="1" dirty="0">
                        <a:solidFill>
                          <a:schemeClr val="tx1"/>
                        </a:solidFill>
                      </a:endParaRPr>
                    </a:p>
                    <a:p>
                      <a:pPr marL="171450" indent="-171450">
                        <a:lnSpc>
                          <a:spcPct val="80000"/>
                        </a:lnSpc>
                        <a:buFont typeface="Arial" panose="020B0604020202020204" pitchFamily="34" charset="0"/>
                        <a:buChar char="•"/>
                      </a:pPr>
                      <a:r>
                        <a:rPr lang="en-US" altLang="en-US" sz="1200" b="0" dirty="0"/>
                        <a:t>I'm scared that fires could destroy our forests and homes.</a:t>
                      </a:r>
                      <a:endParaRPr lang="en-US" altLang="en-US" sz="1200" b="0" dirty="0"/>
                    </a:p>
                    <a:p>
                      <a:pPr marL="171450" indent="-171450">
                        <a:lnSpc>
                          <a:spcPct val="80000"/>
                        </a:lnSpc>
                        <a:buFont typeface="Arial" panose="020B0604020202020204" pitchFamily="34" charset="0"/>
                        <a:buChar char="•"/>
                      </a:pPr>
                      <a:endParaRPr lang="en-US" altLang="en-US" sz="1200" b="0" dirty="0"/>
                    </a:p>
                    <a:p>
                      <a:pPr marL="171450" indent="-171450">
                        <a:lnSpc>
                          <a:spcPct val="80000"/>
                        </a:lnSpc>
                        <a:buFont typeface="Arial" panose="020B0604020202020204" pitchFamily="34" charset="0"/>
                        <a:buChar char="•"/>
                      </a:pPr>
                      <a:r>
                        <a:rPr lang="en-US" altLang="en-US" sz="1200" b="0" dirty="0"/>
                        <a:t>"We need a way to know about fires before they get out of control.</a:t>
                      </a:r>
                      <a:endParaRPr lang="en-US" altLang="en-US" sz="1200" b="0" dirty="0"/>
                    </a:p>
                    <a:p>
                      <a:pPr marL="171450" indent="-171450">
                        <a:lnSpc>
                          <a:spcPct val="80000"/>
                        </a:lnSpc>
                        <a:buFont typeface="Arial" panose="020B0604020202020204" pitchFamily="34" charset="0"/>
                        <a:buChar char="•"/>
                      </a:pPr>
                      <a:endParaRPr lang="en-US" altLang="en-US" sz="1200" b="0" dirty="0"/>
                    </a:p>
                    <a:p>
                      <a:pPr marL="171450" indent="-171450">
                        <a:lnSpc>
                          <a:spcPct val="80000"/>
                        </a:lnSpc>
                        <a:buFont typeface="Arial" panose="020B0604020202020204" pitchFamily="34" charset="0"/>
                        <a:buChar char="•"/>
                      </a:pPr>
                      <a:r>
                        <a:rPr lang="en-US" altLang="en-US" sz="1200" b="0" dirty="0"/>
                        <a:t>It would be great to get alerts quickly so we can</a:t>
                      </a:r>
                      <a:endParaRPr lang="en-US" altLang="en-US" sz="1200" b="0" dirty="0"/>
                    </a:p>
                    <a:p>
                      <a:pPr marL="0" indent="0">
                        <a:lnSpc>
                          <a:spcPct val="80000"/>
                        </a:lnSpc>
                        <a:buFont typeface="Arial" panose="020B0604020202020204" pitchFamily="34" charset="0"/>
                        <a:buNone/>
                      </a:pPr>
                      <a:r>
                        <a:rPr lang="en-IN" altLang="en-US" sz="1200" b="0" dirty="0"/>
                        <a:t>   </a:t>
                      </a:r>
                      <a:r>
                        <a:rPr lang="en-US" altLang="en-US" sz="1200" b="0" dirty="0"/>
                        <a:t> act fast.</a:t>
                      </a:r>
                      <a:endParaRPr lang="en-US" altLang="en-US" sz="1200" b="0" dirty="0"/>
                    </a:p>
                  </a:txBody>
                  <a:tcPr/>
                </a:tc>
                <a:tc>
                  <a:txBody>
                    <a:bodyPr/>
                    <a:p>
                      <a:pPr>
                        <a:lnSpc>
                          <a:spcPct val="80000"/>
                        </a:lnSpc>
                      </a:pPr>
                      <a:r>
                        <a:rPr lang="en-US" b="1" dirty="0">
                          <a:solidFill>
                            <a:schemeClr val="tx1"/>
                          </a:solidFill>
                        </a:rPr>
                        <a:t>What user Does </a:t>
                      </a:r>
                      <a:endParaRPr lang="en-US" b="1" dirty="0">
                        <a:solidFill>
                          <a:schemeClr val="tx1"/>
                        </a:solidFill>
                      </a:endParaRPr>
                    </a:p>
                    <a:p>
                      <a:pPr marL="171450" indent="-171450">
                        <a:lnSpc>
                          <a:spcPct val="80000"/>
                        </a:lnSpc>
                        <a:buFont typeface="Arial" panose="020B0604020202020204" pitchFamily="34" charset="0"/>
                        <a:buChar char="•"/>
                      </a:pPr>
                      <a:r>
                        <a:rPr lang="en-US" altLang="en-US" sz="1200" b="0" dirty="0"/>
                        <a:t>Watch for smoke or unusual changes in forest conditions.</a:t>
                      </a:r>
                      <a:endParaRPr lang="en-US" altLang="en-US" sz="1200" b="0" dirty="0"/>
                    </a:p>
                    <a:p>
                      <a:pPr marL="171450" indent="-171450">
                        <a:lnSpc>
                          <a:spcPct val="80000"/>
                        </a:lnSpc>
                        <a:buFont typeface="Arial" panose="020B0604020202020204" pitchFamily="34" charset="0"/>
                        <a:buChar char="•"/>
                      </a:pPr>
                      <a:endParaRPr lang="en-US" altLang="en-US" sz="1200" b="0" dirty="0"/>
                    </a:p>
                    <a:p>
                      <a:pPr marL="171450" indent="-171450">
                        <a:lnSpc>
                          <a:spcPct val="80000"/>
                        </a:lnSpc>
                        <a:buFont typeface="Arial" panose="020B0604020202020204" pitchFamily="34" charset="0"/>
                        <a:buChar char="•"/>
                      </a:pPr>
                      <a:r>
                        <a:rPr lang="en-US" altLang="en-US" sz="1200" b="0" dirty="0"/>
                        <a:t>Contact authorities only when fires are visible, often too late.</a:t>
                      </a:r>
                      <a:endParaRPr lang="en-US" altLang="en-US" sz="1200" b="0" dirty="0"/>
                    </a:p>
                    <a:p>
                      <a:pPr marL="171450" indent="-171450">
                        <a:lnSpc>
                          <a:spcPct val="80000"/>
                        </a:lnSpc>
                        <a:buFont typeface="Arial" panose="020B0604020202020204" pitchFamily="34" charset="0"/>
                        <a:buChar char="•"/>
                      </a:pPr>
                      <a:endParaRPr lang="en-US" altLang="en-US" sz="1200" b="0" dirty="0"/>
                    </a:p>
                    <a:p>
                      <a:pPr marL="171450" indent="-171450">
                        <a:lnSpc>
                          <a:spcPct val="80000"/>
                        </a:lnSpc>
                        <a:buFont typeface="Arial" panose="020B0604020202020204" pitchFamily="34" charset="0"/>
                        <a:buChar char="•"/>
                      </a:pPr>
                      <a:r>
                        <a:rPr lang="en-US" altLang="en-US" sz="1200" b="0" dirty="0"/>
                        <a:t>Try to stay informed through news or local warnings.</a:t>
                      </a:r>
                      <a:endParaRPr lang="en-US" altLang="en-US" sz="1200" b="0" dirty="0"/>
                    </a:p>
                  </a:txBody>
                  <a:tcPr/>
                </a:tc>
              </a:tr>
              <a:tr h="1568086">
                <a:tc>
                  <a:txBody>
                    <a:bodyPr/>
                    <a:p>
                      <a:pPr>
                        <a:lnSpc>
                          <a:spcPct val="80000"/>
                        </a:lnSpc>
                      </a:pPr>
                      <a:r>
                        <a:rPr lang="en-US" b="1" dirty="0"/>
                        <a:t>What user  think</a:t>
                      </a:r>
                      <a:endParaRPr lang="en-US" b="1" dirty="0"/>
                    </a:p>
                    <a:p>
                      <a:pPr>
                        <a:lnSpc>
                          <a:spcPct val="80000"/>
                        </a:lnSpc>
                      </a:pPr>
                      <a:endParaRPr lang="en-US" b="1" dirty="0"/>
                    </a:p>
                    <a:p>
                      <a:pPr marL="171450" indent="-171450">
                        <a:lnSpc>
                          <a:spcPct val="80000"/>
                        </a:lnSpc>
                        <a:buFont typeface="Arial" panose="020B0604020202020204" pitchFamily="34" charset="0"/>
                        <a:buChar char="•"/>
                      </a:pPr>
                      <a:r>
                        <a:rPr lang="en-US" altLang="en-US" sz="1200" dirty="0">
                          <a:solidFill>
                            <a:schemeClr val="tx1"/>
                          </a:solidFill>
                        </a:rPr>
                        <a:t>Is there a smarter way to detect fires early without waiting for signs?"</a:t>
                      </a:r>
                      <a:endParaRPr lang="en-US" altLang="en-US" sz="1200" dirty="0">
                        <a:solidFill>
                          <a:schemeClr val="tx1"/>
                        </a:solidFill>
                      </a:endParaRPr>
                    </a:p>
                    <a:p>
                      <a:pPr marL="171450" indent="-171450">
                        <a:lnSpc>
                          <a:spcPct val="80000"/>
                        </a:lnSpc>
                        <a:buFont typeface="Arial" panose="020B0604020202020204" pitchFamily="34" charset="0"/>
                        <a:buChar char="•"/>
                      </a:pPr>
                      <a:endParaRPr lang="en-US" altLang="en-US" sz="1200" dirty="0">
                        <a:solidFill>
                          <a:schemeClr val="tx1"/>
                        </a:solidFill>
                      </a:endParaRPr>
                    </a:p>
                    <a:p>
                      <a:pPr marL="171450" indent="-171450">
                        <a:lnSpc>
                          <a:spcPct val="80000"/>
                        </a:lnSpc>
                        <a:buFont typeface="Arial" panose="020B0604020202020204" pitchFamily="34" charset="0"/>
                        <a:buChar char="•"/>
                      </a:pPr>
                      <a:r>
                        <a:rPr lang="en-US" altLang="en-US" sz="1200" dirty="0">
                          <a:solidFill>
                            <a:schemeClr val="tx1"/>
                          </a:solidFill>
                        </a:rPr>
                        <a:t>"Technology could help protect our forests and wildlife."</a:t>
                      </a:r>
                      <a:endParaRPr lang="en-US" altLang="en-US" sz="1200" dirty="0">
                        <a:solidFill>
                          <a:schemeClr val="tx1"/>
                        </a:solidFill>
                      </a:endParaRPr>
                    </a:p>
                    <a:p>
                      <a:pPr marL="171450" indent="-171450">
                        <a:lnSpc>
                          <a:spcPct val="80000"/>
                        </a:lnSpc>
                        <a:buFont typeface="Arial" panose="020B0604020202020204" pitchFamily="34" charset="0"/>
                        <a:buChar char="•"/>
                      </a:pPr>
                      <a:endParaRPr lang="en-US" altLang="en-US" sz="1200" dirty="0">
                        <a:solidFill>
                          <a:schemeClr val="tx1"/>
                        </a:solidFill>
                      </a:endParaRPr>
                    </a:p>
                    <a:p>
                      <a:pPr marL="171450" indent="-171450">
                        <a:lnSpc>
                          <a:spcPct val="80000"/>
                        </a:lnSpc>
                        <a:buFont typeface="Arial" panose="020B0604020202020204" pitchFamily="34" charset="0"/>
                        <a:buChar char="•"/>
                      </a:pPr>
                      <a:r>
                        <a:rPr lang="en-US" altLang="en-US" sz="1200" dirty="0">
                          <a:solidFill>
                            <a:schemeClr val="tx1"/>
                          </a:solidFill>
                        </a:rPr>
                        <a:t>"I wish we had real-time updates and alerts we can trust."</a:t>
                      </a:r>
                      <a:endParaRPr lang="en-US" altLang="en-US" sz="1200" dirty="0">
                        <a:solidFill>
                          <a:schemeClr val="tx1"/>
                        </a:solidFill>
                      </a:endParaRPr>
                    </a:p>
                  </a:txBody>
                  <a:tcPr/>
                </a:tc>
                <a:tc>
                  <a:txBody>
                    <a:bodyPr/>
                    <a:p>
                      <a:pPr>
                        <a:lnSpc>
                          <a:spcPct val="80000"/>
                        </a:lnSpc>
                      </a:pPr>
                      <a:r>
                        <a:rPr lang="en-US" dirty="0"/>
                        <a:t>         </a:t>
                      </a:r>
                      <a:r>
                        <a:rPr lang="en-US" b="1" dirty="0"/>
                        <a:t>What user feel</a:t>
                      </a:r>
                      <a:endParaRPr lang="en-US" b="1" dirty="0"/>
                    </a:p>
                    <a:p>
                      <a:pPr>
                        <a:lnSpc>
                          <a:spcPct val="80000"/>
                        </a:lnSpc>
                      </a:pPr>
                      <a:r>
                        <a:rPr lang="en-US" b="1" dirty="0"/>
                        <a:t> </a:t>
                      </a:r>
                      <a:endParaRPr lang="en-US" b="1" dirty="0"/>
                    </a:p>
                    <a:p>
                      <a:pPr marL="171450" indent="-171450">
                        <a:lnSpc>
                          <a:spcPct val="80000"/>
                        </a:lnSpc>
                        <a:buFont typeface="Arial" panose="020B0604020202020204" pitchFamily="34" charset="0"/>
                        <a:buChar char="•"/>
                      </a:pPr>
                      <a:r>
                        <a:rPr lang="en-IN" altLang="en-US" sz="1200" b="0" dirty="0"/>
                        <a:t>  </a:t>
                      </a:r>
                      <a:r>
                        <a:rPr lang="en-US" altLang="en-US" sz="1200" b="0" dirty="0"/>
                        <a:t>Worried and anxious during dry seasons about potential fires.</a:t>
                      </a:r>
                      <a:endParaRPr lang="en-US" altLang="en-US" sz="1200" b="0" dirty="0"/>
                    </a:p>
                    <a:p>
                      <a:pPr marL="171450" indent="-171450">
                        <a:lnSpc>
                          <a:spcPct val="80000"/>
                        </a:lnSpc>
                        <a:buFont typeface="Arial" panose="020B0604020202020204" pitchFamily="34" charset="0"/>
                        <a:buChar char="•"/>
                      </a:pPr>
                      <a:endParaRPr lang="en-US" altLang="en-US" sz="1200" b="0" dirty="0"/>
                    </a:p>
                    <a:p>
                      <a:pPr marL="171450" indent="-171450">
                        <a:lnSpc>
                          <a:spcPct val="80000"/>
                        </a:lnSpc>
                        <a:buFont typeface="Arial" panose="020B0604020202020204" pitchFamily="34" charset="0"/>
                        <a:buChar char="•"/>
                      </a:pPr>
                      <a:r>
                        <a:rPr lang="en-US" altLang="en-US" sz="1200" b="0" dirty="0"/>
                        <a:t>Frustrated by slow response times and limited information.</a:t>
                      </a:r>
                      <a:endParaRPr lang="en-US" altLang="en-US" sz="1200" b="0" dirty="0"/>
                    </a:p>
                    <a:p>
                      <a:pPr marL="171450" indent="-171450">
                        <a:lnSpc>
                          <a:spcPct val="80000"/>
                        </a:lnSpc>
                        <a:buFont typeface="Arial" panose="020B0604020202020204" pitchFamily="34" charset="0"/>
                        <a:buChar char="•"/>
                      </a:pPr>
                      <a:endParaRPr lang="en-US" altLang="en-US" sz="1200" b="0" dirty="0"/>
                    </a:p>
                    <a:p>
                      <a:pPr marL="171450" indent="-171450">
                        <a:lnSpc>
                          <a:spcPct val="80000"/>
                        </a:lnSpc>
                        <a:buFont typeface="Arial" panose="020B0604020202020204" pitchFamily="34" charset="0"/>
                        <a:buChar char="•"/>
                      </a:pPr>
                      <a:r>
                        <a:rPr lang="en-US" altLang="en-US" sz="1200" b="0" dirty="0"/>
                        <a:t>Relieved and hopeful when they receive quick, reliable alerts.</a:t>
                      </a:r>
                      <a:endParaRPr lang="en-US" altLang="en-US" sz="1200" b="0" dirty="0"/>
                    </a:p>
                  </a:txBody>
                  <a:tcPr/>
                </a:tc>
              </a:tr>
            </a:tbl>
          </a:graphicData>
        </a:graphic>
      </p:graphicFrame>
      <p:sp>
        <p:nvSpPr>
          <p:cNvPr id="3" name="Flowchart: Connector 2"/>
          <p:cNvSpPr/>
          <p:nvPr/>
        </p:nvSpPr>
        <p:spPr>
          <a:xfrm>
            <a:off x="5781882" y="3257088"/>
            <a:ext cx="955468" cy="87695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p>
            <a:pPr algn="ctr"/>
            <a:r>
              <a:rPr lang="en-US" sz="1600" b="1" dirty="0"/>
              <a:t>User </a:t>
            </a:r>
            <a:endParaRPr lang="en-US" sz="1600" b="1"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83"/>
        <p:cNvGrpSpPr/>
        <p:nvPr/>
      </p:nvGrpSpPr>
      <p:grpSpPr>
        <a:xfrm>
          <a:off x="0" y="0"/>
          <a:ext cx="0" cy="0"/>
          <a:chOff x="0" y="0"/>
          <a:chExt cx="0" cy="0"/>
        </a:xfrm>
      </p:grpSpPr>
      <p:graphicFrame>
        <p:nvGraphicFramePr>
          <p:cNvPr id="4" name="Table 3"/>
          <p:cNvGraphicFramePr/>
          <p:nvPr>
            <p:custDataLst>
              <p:tags r:id="rId1"/>
            </p:custDataLst>
          </p:nvPr>
        </p:nvGraphicFramePr>
        <p:xfrm>
          <a:off x="1828800" y="2476500"/>
          <a:ext cx="5866130" cy="2851150"/>
        </p:xfrm>
        <a:graphic>
          <a:graphicData uri="http://schemas.openxmlformats.org/drawingml/2006/table">
            <a:tbl>
              <a:tblPr firstRow="1" bandRow="1">
                <a:tableStyleId>{5C22544A-7EE6-4342-B048-85BDC9FD1C3A}</a:tableStyleId>
              </a:tblPr>
              <a:tblGrid>
                <a:gridCol w="425450"/>
                <a:gridCol w="866140"/>
                <a:gridCol w="4574540"/>
              </a:tblGrid>
              <a:tr h="570230">
                <a:tc>
                  <a:txBody>
                    <a:bodyPr/>
                    <a:p>
                      <a:pPr algn="l" fontAlgn="ctr"/>
                      <a:r>
                        <a:rPr lang="en-US" altLang="zh-CN" sz="1100" b="0" i="0">
                          <a:solidFill>
                            <a:srgbClr val="000000"/>
                          </a:solidFill>
                          <a:latin typeface="Calibri" panose="020F0502020204030204"/>
                          <a:ea typeface="Calibri" panose="020F0502020204030204"/>
                        </a:rPr>
                        <a:t>Sr. No.</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Requirement</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Proposed Solution</a:t>
                      </a:r>
                      <a:endParaRPr lang="en-US" altLang="zh-CN" sz="1100" b="0" i="0">
                        <a:solidFill>
                          <a:srgbClr val="000000"/>
                        </a:solidFill>
                        <a:latin typeface="Calibri" panose="020F0502020204030204"/>
                        <a:ea typeface="Calibri" panose="020F0502020204030204"/>
                      </a:endParaRPr>
                    </a:p>
                  </a:txBody>
                  <a:tcPr marL="7937" marR="7937" marT="7937" marB="0" anchor="ctr" anchorCtr="0"/>
                </a:tc>
              </a:tr>
              <a:tr h="570230">
                <a:tc>
                  <a:txBody>
                    <a:bodyPr/>
                    <a:p>
                      <a:pPr algn="r" fontAlgn="ctr"/>
                      <a:r>
                        <a:rPr lang="en-US" altLang="zh-CN" sz="1100" b="0" i="0">
                          <a:solidFill>
                            <a:srgbClr val="000000"/>
                          </a:solidFill>
                          <a:latin typeface="Calibri" panose="020F0502020204030204"/>
                          <a:ea typeface="Calibri" panose="020F0502020204030204"/>
                        </a:rPr>
                        <a:t>1</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Sensors</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Use multiple sensors (temperature, smoke, flame, GPS) to collect real-time forest data.</a:t>
                      </a:r>
                      <a:endParaRPr lang="en-US" altLang="zh-CN" sz="1100" b="0" i="0">
                        <a:solidFill>
                          <a:srgbClr val="000000"/>
                        </a:solidFill>
                        <a:latin typeface="Calibri" panose="020F0502020204030204"/>
                        <a:ea typeface="Calibri" panose="020F0502020204030204"/>
                      </a:endParaRPr>
                    </a:p>
                  </a:txBody>
                  <a:tcPr marL="7937" marR="7937" marT="7937" marB="0" anchor="ctr" anchorCtr="0"/>
                </a:tc>
              </a:tr>
              <a:tr h="570230">
                <a:tc>
                  <a:txBody>
                    <a:bodyPr/>
                    <a:p>
                      <a:pPr algn="r" fontAlgn="ctr"/>
                      <a:r>
                        <a:rPr lang="en-US" altLang="zh-CN" sz="1100" b="0" i="0">
                          <a:solidFill>
                            <a:srgbClr val="000000"/>
                          </a:solidFill>
                          <a:latin typeface="Calibri" panose="020F0502020204030204"/>
                          <a:ea typeface="Calibri" panose="020F0502020204030204"/>
                        </a:rPr>
                        <a:t>2</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Data Transmission</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Send sensor data wirelessly from Arduino Mega WiFi to AWS IoT Core using MQTT protocol.</a:t>
                      </a:r>
                      <a:endParaRPr lang="en-US" altLang="zh-CN" sz="1100" b="0" i="0">
                        <a:solidFill>
                          <a:srgbClr val="000000"/>
                        </a:solidFill>
                        <a:latin typeface="Calibri" panose="020F0502020204030204"/>
                        <a:ea typeface="Calibri" panose="020F0502020204030204"/>
                      </a:endParaRPr>
                    </a:p>
                  </a:txBody>
                  <a:tcPr marL="7937" marR="7937" marT="7937" marB="0" anchor="ctr" anchorCtr="0"/>
                </a:tc>
              </a:tr>
              <a:tr h="570230">
                <a:tc>
                  <a:txBody>
                    <a:bodyPr/>
                    <a:p>
                      <a:pPr algn="r" fontAlgn="ctr"/>
                      <a:r>
                        <a:rPr lang="en-US" altLang="zh-CN" sz="1100" b="0" i="0">
                          <a:solidFill>
                            <a:srgbClr val="000000"/>
                          </a:solidFill>
                          <a:latin typeface="Calibri" panose="020F0502020204030204"/>
                          <a:ea typeface="Calibri" panose="020F0502020204030204"/>
                        </a:rPr>
                        <a:t>3</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AI Analysis</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Use AI models on AWS to analyze data and detect early signs of forest fires automatically.</a:t>
                      </a:r>
                      <a:endParaRPr lang="en-US" altLang="zh-CN" sz="1100" b="0" i="0">
                        <a:solidFill>
                          <a:srgbClr val="000000"/>
                        </a:solidFill>
                        <a:latin typeface="Calibri" panose="020F0502020204030204"/>
                        <a:ea typeface="Calibri" panose="020F0502020204030204"/>
                      </a:endParaRPr>
                    </a:p>
                  </a:txBody>
                  <a:tcPr marL="7937" marR="7937" marT="7937" marB="0" anchor="ctr" anchorCtr="0"/>
                </a:tc>
              </a:tr>
              <a:tr h="570230">
                <a:tc>
                  <a:txBody>
                    <a:bodyPr/>
                    <a:p>
                      <a:pPr algn="r" fontAlgn="ctr"/>
                      <a:r>
                        <a:rPr lang="en-US" altLang="zh-CN" sz="1100" b="0" i="0">
                          <a:solidFill>
                            <a:srgbClr val="000000"/>
                          </a:solidFill>
                          <a:latin typeface="Calibri" panose="020F0502020204030204"/>
                          <a:ea typeface="Calibri" panose="020F0502020204030204"/>
                        </a:rPr>
                        <a:t>4</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Alerts</a:t>
                      </a:r>
                      <a:endParaRPr lang="en-US" altLang="zh-CN" sz="1100" b="0" i="0">
                        <a:solidFill>
                          <a:srgbClr val="000000"/>
                        </a:solidFill>
                        <a:latin typeface="Calibri" panose="020F0502020204030204"/>
                        <a:ea typeface="Calibri" panose="020F0502020204030204"/>
                      </a:endParaRPr>
                    </a:p>
                  </a:txBody>
                  <a:tcPr marL="7937" marR="7937" marT="7937" marB="0" anchor="ctr" anchorCtr="0"/>
                </a:tc>
                <a:tc>
                  <a:txBody>
                    <a:bodyPr/>
                    <a:p>
                      <a:pPr algn="l" fontAlgn="ctr"/>
                      <a:r>
                        <a:rPr lang="en-US" altLang="zh-CN" sz="1100" b="0" i="0">
                          <a:solidFill>
                            <a:srgbClr val="000000"/>
                          </a:solidFill>
                          <a:latin typeface="Calibri" panose="020F0502020204030204"/>
                          <a:ea typeface="Calibri" panose="020F0502020204030204"/>
                        </a:rPr>
                        <a:t>Send instant alerts via SMS or app and display local warnings on OLED screens for quick action.</a:t>
                      </a:r>
                      <a:endParaRPr lang="en-US" altLang="zh-CN" sz="1100" b="0" i="0">
                        <a:solidFill>
                          <a:srgbClr val="000000"/>
                        </a:solidFill>
                        <a:latin typeface="Calibri" panose="020F0502020204030204"/>
                        <a:ea typeface="Calibri" panose="020F0502020204030204"/>
                      </a:endParaRPr>
                    </a:p>
                  </a:txBody>
                  <a:tcPr marL="7937" marR="7937" marT="7937" marB="0" anchor="ctr" anchorCtr="0"/>
                </a:tc>
              </a:tr>
            </a:tbl>
          </a:graphicData>
        </a:graphic>
      </p:graphicFrame>
    </p:spTree>
  </p:cSld>
  <p:clrMapOvr>
    <a:masterClrMapping/>
  </p:clrMapOvr>
  <p:transition/>
</p:sld>
</file>

<file path=ppt/tags/tag1.xml><?xml version="1.0" encoding="utf-8"?>
<p:tagLst xmlns:p="http://schemas.openxmlformats.org/presentationml/2006/main">
  <p:tag name="TABLE_ENDDRAG_ORIGIN_RECT" val="276*258"/>
  <p:tag name="TABLE_ENDDRAG_RECT" val="361*172*276*258"/>
</p:tagLst>
</file>

<file path=ppt/tags/tag2.xml><?xml version="1.0" encoding="utf-8"?>
<p:tagLst xmlns:p="http://schemas.openxmlformats.org/presentationml/2006/main">
  <p:tag name="TABLE_ENDDRAG_ORIGIN_RECT" val="461*150"/>
  <p:tag name="TABLE_ENDDRAG_RECT" val="144*195*461*150"/>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3026</Words>
  <Application>WPS Presentation</Application>
  <PresentationFormat>Widescreen</PresentationFormat>
  <Paragraphs>116</Paragraphs>
  <Slides>3</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vt:i4>
      </vt:variant>
    </vt:vector>
  </HeadingPairs>
  <TitlesOfParts>
    <vt:vector size="14" baseType="lpstr">
      <vt:lpstr>Arial</vt:lpstr>
      <vt:lpstr>SimSun</vt:lpstr>
      <vt:lpstr>Wingdings</vt:lpstr>
      <vt:lpstr>Arial</vt:lpstr>
      <vt:lpstr>Calibri</vt:lpstr>
      <vt:lpstr>Century</vt:lpstr>
      <vt:lpstr>Century</vt:lpstr>
      <vt:lpstr>Times New Roman</vt:lpstr>
      <vt:lpstr>Microsoft YaHei</vt:lpstr>
      <vt:lpstr>Arial Unicode MS</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Akash Deshmukhe</cp:lastModifiedBy>
  <cp:revision>14</cp:revision>
  <dcterms:created xsi:type="dcterms:W3CDTF">2025-09-22T05:28:00Z</dcterms:created>
  <dcterms:modified xsi:type="dcterms:W3CDTF">2025-11-04T19:12:21Z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5487c9-99ed-4cbc-93a8-0e9b1796bde5_Enabled">
    <vt:lpwstr>true</vt:lpwstr>
  </property>
  <property fmtid="{D5CDD505-2E9C-101B-9397-08002B2CF9AE}" pid="3" name="MSIP_Label_e65487c9-99ed-4cbc-93a8-0e9b1796bde5_SetDate">
    <vt:lpwstr>2023-08-22T15:55:58Z</vt:lpwstr>
  </property>
  <property fmtid="{D5CDD505-2E9C-101B-9397-08002B2CF9AE}" pid="4" name="MSIP_Label_e65487c9-99ed-4cbc-93a8-0e9b1796bde5_Method">
    <vt:lpwstr>Standard</vt:lpwstr>
  </property>
  <property fmtid="{D5CDD505-2E9C-101B-9397-08002B2CF9AE}" pid="5" name="MSIP_Label_e65487c9-99ed-4cbc-93a8-0e9b1796bde5_Name">
    <vt:lpwstr>defa4170-0d19-0005-0004-bc88714345d2</vt:lpwstr>
  </property>
  <property fmtid="{D5CDD505-2E9C-101B-9397-08002B2CF9AE}" pid="6" name="MSIP_Label_e65487c9-99ed-4cbc-93a8-0e9b1796bde5_SiteId">
    <vt:lpwstr>03cb5f0c-1f82-4993-9621-36330f6309ec</vt:lpwstr>
  </property>
  <property fmtid="{D5CDD505-2E9C-101B-9397-08002B2CF9AE}" pid="7" name="MSIP_Label_e65487c9-99ed-4cbc-93a8-0e9b1796bde5_ActionId">
    <vt:lpwstr>a9f9e4d2-07a5-4c01-b96a-2377cca3dabb</vt:lpwstr>
  </property>
  <property fmtid="{D5CDD505-2E9C-101B-9397-08002B2CF9AE}" pid="8" name="MSIP_Label_e65487c9-99ed-4cbc-93a8-0e9b1796bde5_ContentBits">
    <vt:lpwstr>0</vt:lpwstr>
  </property>
  <property fmtid="{D5CDD505-2E9C-101B-9397-08002B2CF9AE}" pid="9" name="ICV">
    <vt:lpwstr>B28CFEA30F264643B3974EB0EDB08F5A_13</vt:lpwstr>
  </property>
  <property fmtid="{D5CDD505-2E9C-101B-9397-08002B2CF9AE}" pid="10" name="KSOProductBuildVer">
    <vt:lpwstr>1033-12.2.0.23131</vt:lpwstr>
  </property>
</Properties>
</file>